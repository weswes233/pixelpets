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70" r:id="rId16"/>
    <p:sldId id="285" r:id="rId13"/>
    <p:sldId id="268" r:id="rId14"/>
    <p:sldId id="286" r:id="rId6"/>
    <p:sldId id="259" r:id="rId5"/>
    <p:sldId id="287" r:id="rId27"/>
    <p:sldId id="269" r:id="rId15"/>
    <p:sldId id="261" r:id="rId7"/>
    <p:sldId id="275" r:id="rId21"/>
    <p:sldId id="284" r:id="rId30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0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9.xml"/><Relationship Id="rId16" Type="http://schemas.openxmlformats.org/officeDocument/2006/relationships/slide" Target="slides/slide3.xml"/><Relationship Id="rId21" Type="http://schemas.openxmlformats.org/officeDocument/2006/relationships/slide" Target="slides/slide11.xml"/><Relationship Id="rId27" Type="http://schemas.openxmlformats.org/officeDocument/2006/relationships/slide" Target="slides/slide8.xml"/><Relationship Id="rId30" Type="http://schemas.openxmlformats.org/officeDocument/2006/relationships/slide" Target="slides/slide12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Noto Sans CJK SC"/>
              </a:rPr>
              <a:t>大家好，我是 Wes。这是 PixelPets——掌心伙伴：会替你出门的像素伙伴。它带回明信片，可以收藏、赠送，也能在 Solana 上证明。
不是又一个 mint 就炒的宠物。先玩，再上链，由你决定。
【口播 0:00–0:20 钩子】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Noto Sans CJK SC"/>
              </a:rPr>
              <a:t>多数链上宠物以投机开场：钱包难用，或者只是空壳 JPEG。旅行青蛙已经证明了情绪：准备、等待、惊喜、炫耀。
Solana 正好补上缺失的一环——归属、旅途出处与赠送——却不必把每一口粮都上链。所以我们为 Colosseum 做了这个。
【口播 0:20–0:45】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Noto Sans CJK SC"/>
              </a:rPr>
              <a:t>在 Solana Devnet：Anchor 程序 + Metaplex Core 合集，三个限量形态。
- 领取上链会写入 PetRecord。
- 旅程凭证存已结算旅途的哈希——公开可验。
- 赠送是主人签名的 Core 转移。
日常照料和旅行 RNG 留在链下，体验更好。链上存的是出处，不是每一口零食。
Program：2SCKfWszFZuqsjcmRbtmctHwZTgQopYmGSofoEtQm2nT——仓库 README 和 Explorer 都有。
【口播 2:00–2:25】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Noto Sans CJK SC"/>
              </a:rPr>
              <a:t>请记住这几个关键帧：
- 「这是真 Phantom，在 Devnet 上。」
- 领取：「共签领取——你能看到网络、资产和费用。」
- 凭证：「Checkpoint v2 旅程凭证——已结算旅途哈希上链。」
- 赠送：「主人签名转移；好友同步后继续照料。」
（加分）我们已用第二钱包跑通赠送同步 + 喂养。
【口播 1:15–2:00】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Noto Sans CJK SC"/>
              </a:rPr>
              <a:t>今天只有 Devnet——没有现金价值。按设计没有项目代币。
以后：可预览的外观和主题包——不是排放，不是披着宠物皮的赌场。如果玩家只问「wen token」，我们先修好玩具，不印一张 K 线。
【口播 2:25–2:45】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Noto Sans CJK SC"/>
              </a:rPr>
              <a:t>这些是线上真实画面：旅行、在外、明信片、图鉴，还有中文界面。
三、旅行——打包、选地。演示旅途标了加速。
四、回家——故事明信片，图鉴里可能有小收藏。
情绪顺序：准备 → 等待 → 惊喜 → 炫耀 → 分享。
【口播 0:45–1:15 玩家循环】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Noto Sans CJK SC"/>
              </a:rPr>
              <a:t>方案 A——播产品 Demo 视频（推荐，更稳）：
- 「这是真 Phantom，在 Devnet 上。」
- Claim 弹窗：「共签领取——你能看到网络、资产和费用。」
- 凭证确认：「Checkpoint v2 旅程凭证——已结算旅途哈希上链。」
- 赠送成功：「主人签名转移；好友同步后继续照料。」
方案 B——现场打开 https://175.178.27.231/（接受自签证书）：领养 / 打开苔苔 → 照料 → 连 Phantom → 领取上链 → 保存旅程凭证 → 打开 Explorer。
【口播 1:15–2:00】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Noto Sans CJK SC"/>
              </a:rPr>
              <a:t>不是又一个 mint 就炒的宠物。先玩，再上链，由你决定。
旅行青蛙证明了情绪：准备、等待、惊喜、炫耀。我们保留这些，加上归属与赠送；放下每日喂养上链、代币排放，以及第一天的投机繁殖。
问答——为什么没有代币？先做情绪留存；免费玩家留下来了，再考虑外观。
【钩子 + 0:20–0:45；问答预备】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Noto Sans CJK SC"/>
              </a:rPr>
              <a:t>循环就五步：
一、领养苔苔、啵啵或微光——免费，不用钱包。
二、软计时照料；疏忽也不会让伙伴死掉。
三、旅行——打包、选地方。演示旅途标了加速。
四、回家——故事明信片，图鉴里可能有小收藏。
五、可选上链——领取 Metaplex Core 伙伴、保存旅程凭证、赠送给朋友。
情绪顺序：准备 → 等待 → 惊喜 → 炫耀 → 分享。
【口播 0:45–1:15】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Noto Sans CJK SC"/>
              </a:rPr>
              <a:t>我们请评委反馈的是情绪循环和 Solana 用面——不是代币经济够不够凶。
问答——为什么 Devnet？这个周末先诚实交上「先玩」循环；Mainnet 等评审之后。
【口播 2:45–3:00 Ask；问答预备】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Noto Sans CJK SC"/>
              </a:rPr>
              <a:t>日常照料和旅行 RNG 留在链下，为的是体验。链上存出处，不是每一口零食。
问答——旅行 RNG 公平吗？服务器结算旅途；链上存哈希和公开证明 id。
问答——移动端？今天是 Godot Web；若留存验证了，再做移动端。
【口播 2:00–2:25 与问答预备】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Noto Sans CJK SC"/>
              </a:rPr>
              <a:t>公网演示：https://175.178.27.231/
仓库：github.com/weswes233/PixelPets——默认分支就是黑客松构建。
X：@wess1yan
我们想听的是情绪循环和 Solana 用面的反馈。
谢谢——欢迎提问，也可以现场带你走一遍领取上链。
【口播 2:45–3:00】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hyperlink" Target="https://175.178.27.231/" TargetMode="External"/><Relationship Id="rId8" Type="http://schemas.openxmlformats.org/officeDocument/2006/relationships/hyperlink" Target="https://github.com/weswes233/PixelPets/releases/download/demo-videos-2026-10-10/PixelPets-product-demo-en-v5.mp4" TargetMode="External"/><Relationship Id="rId9" Type="http://schemas.openxmlformats.org/officeDocument/2006/relationships/image" Target="../media/image3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hyperlink" Target="https://175.178.27.231/" TargetMode="External"/><Relationship Id="rId6" Type="http://schemas.openxmlformats.org/officeDocument/2006/relationships/hyperlink" Target="https://github.com/weswes233/PixelPets" TargetMode="External"/><Relationship Id="rId7" Type="http://schemas.openxmlformats.org/officeDocument/2006/relationships/image" Target="../media/image6.png"/><Relationship Id="rId8" Type="http://schemas.openxmlformats.org/officeDocument/2006/relationships/hyperlink" Target="https://x.com/wess1yan" TargetMode="External"/><Relationship Id="rId9" Type="http://schemas.openxmlformats.org/officeDocument/2006/relationships/image" Target="../media/image7.png"/><Relationship Id="rId10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>
              <a:alpha val="93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07631" y="1310335"/>
            <a:ext cx="4269334" cy="4269334"/>
          </a:xfrm>
          <a:prstGeom prst="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27" name="Picture 26" descr="cove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07631" y="1310335"/>
            <a:ext cx="4269334" cy="4269334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1143000"/>
            <a:ext cx="6309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6C503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PixelPets</a:t>
            </a:r>
            <a:endParaRPr lang="en-US" sz="21000" dirty="0"/>
          </a:p>
        </p:txBody>
      </p:sp>
      <p:sp>
        <p:nvSpPr>
          <p:cNvPr id="21" name="Text 19"/>
          <p:cNvSpPr/>
          <p:nvPr/>
        </p:nvSpPr>
        <p:spPr>
          <a:xfrm>
            <a:off x="914400" y="2880360"/>
            <a:ext cx="5943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D19566"/>
                </a:solidFill>
                <a:latin typeface="Noto Sans CJK SC" pitchFamily="34" charset="0"/>
              </a:rPr>
              <a:t>先玩。</a:t>
            </a:r>
            <a:endParaRPr lang="en-US" sz="14000" dirty="0"/>
          </a:p>
        </p:txBody>
      </p:sp>
      <p:sp>
        <p:nvSpPr>
          <p:cNvPr id="22" name="Shape 20"/>
          <p:cNvSpPr/>
          <p:nvPr/>
        </p:nvSpPr>
        <p:spPr>
          <a:xfrm>
            <a:off x="7233818" y="1074420"/>
            <a:ext cx="293522" cy="293522"/>
          </a:xfrm>
          <a:prstGeom prst="donut">
            <a:avLst/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03890" y="5522976"/>
            <a:ext cx="293522" cy="293522"/>
          </a:xfrm>
          <a:prstGeom prst="donut">
            <a:avLst/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63986" y="1236269"/>
            <a:ext cx="459029" cy="459029"/>
          </a:xfrm>
          <a:prstGeom prst="donut">
            <a:avLst/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51522" y="5201107"/>
            <a:ext cx="459029" cy="459029"/>
          </a:xfrm>
          <a:prstGeom prst="donut">
            <a:avLst/>
          </a:prstGeom>
          <a:solidFill>
            <a:srgbClr val="576E65"/>
          </a:solidFill>
          <a:ln/>
        </p:spPr>
        <p:txBody>
          <a:bodyPr/>
          <a:p/>
        </p:txBody>
      </p:sp>
      <p:pic>
        <p:nvPicPr>
          <p:cNvPr id="26" name="Picture 25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1832" y="4114800"/>
            <a:ext cx="5760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6C503A"/>
                </a:solidFill>
                <a:latin typeface="Noto Sans CJK SC"/>
              </a:rPr>
              <a:t>会替你出门的像素伙伴。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512064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76E65"/>
                </a:solidFill>
                <a:latin typeface="Noto Sans CJK SC"/>
              </a:rPr>
              <a:t>先玩，再上链，由你决定  ·  Wes  ·  Colosseum Demo Day</a:t>
            </a:r>
          </a:p>
        </p:txBody>
      </p:sp>
      <p:pic>
        <p:nvPicPr>
          <p:cNvPr id="30" name="Picture 29" descr="puddle-su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983480"/>
            <a:ext cx="868680" cy="868680"/>
          </a:xfrm>
          <a:prstGeom prst="rect">
            <a:avLst/>
          </a:prstGeom>
        </p:spPr>
      </p:pic>
      <p:pic>
        <p:nvPicPr>
          <p:cNvPr id="31" name="Picture 30" descr="wisp-s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9960" y="4343400"/>
            <a:ext cx="777240" cy="883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95705"/>
            <a:ext cx="5372100" cy="4286707"/>
          </a:xfrm>
          <a:prstGeom prst="roundRect">
            <a:avLst>
              <a:gd name="adj" fmla="val 7786"/>
            </a:avLst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29" name="Picture 28" descr="problem.png"/>
          <p:cNvPicPr>
            <a:picLocks noChangeAspect="1"/>
          </p:cNvPicPr>
          <p:nvPr/>
        </p:nvPicPr>
        <p:blipFill>
          <a:blip r:embed="rId4"/>
          <a:srcRect l="5" r="5"/>
          <a:stretch>
            <a:fillRect/>
          </a:stretch>
        </p:blipFill>
        <p:spPr>
          <a:xfrm>
            <a:off x="0" y="1295705"/>
            <a:ext cx="5372100" cy="4286707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0" y="1295705"/>
            <a:ext cx="333756" cy="42867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24167" y="1459382"/>
            <a:ext cx="2215591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Noto Sans CJK SC" pitchFamily="34" charset="0"/>
              </a:rPr>
              <a:t>问题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24167" y="164592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C503A"/>
                </a:solidFill>
                <a:latin typeface="Noto Sans CJK SC" pitchFamily="34" charset="0"/>
              </a:rPr>
              <a:t>链上宠物先炒作，后情感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824167" y="31089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53535"/>
                </a:solidFill>
                <a:latin typeface="Noto Sans CJK SC" pitchFamily="34" charset="0"/>
              </a:rPr>
              <a:t>多数链上宠物以投机开场：钱包难用、JPEG 空壳。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24167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76E65"/>
                </a:solidFill>
                <a:latin typeface="Noto Sans CJK SC" pitchFamily="34" charset="0"/>
              </a:rPr>
              <a:t>旅行青蛙证明了情绪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24167" y="4370832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53535"/>
                </a:solidFill>
                <a:latin typeface="Noto Sans CJK SC" pitchFamily="34" charset="0"/>
              </a:rPr>
              <a:t>准备 → 等待 → 惊喜 → 炫耀。Solana 补上缺失一环——归属、出处与赠送——却不必把每一口粮都上链。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919118" y="4231843"/>
            <a:ext cx="2179015" cy="2179015"/>
          </a:xfrm>
          <a:prstGeom prst="roundRect">
            <a:avLst>
              <a:gd name="adj" fmla="val 7805"/>
            </a:avLst>
          </a:prstGeom>
          <a:solidFill>
            <a:srgbClr val="576E65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050792" y="46451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</a:rPr>
              <a:t>四拍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050792" y="51755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</a:rPr>
              <a:t>准备 · 等待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</a:rPr>
              <a:t>惊喜 · 炫耀</a:t>
            </a:r>
            <a:endParaRPr lang="en-US" sz="1000" dirty="0"/>
          </a:p>
        </p:txBody>
      </p:sp>
      <p:pic>
        <p:nvPicPr>
          <p:cNvPr id="28" name="Picture 27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30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863694" y="1104595"/>
            <a:ext cx="2197303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Noto Sans CJK SC" pitchFamily="34" charset="0"/>
              </a:rPr>
              <a:t>玩家循环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066898" y="1304849"/>
            <a:ext cx="5789981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503A"/>
                </a:solidFill>
                <a:latin typeface="Noto Sans CJK SC" pitchFamily="34" charset="0"/>
              </a:rPr>
              <a:t>五步，一个温馨循环</a:t>
            </a:r>
            <a:endParaRPr lang="en-US" sz="4400" dirty="0"/>
          </a:p>
        </p:txBody>
      </p:sp>
      <p:pic>
        <p:nvPicPr>
          <p:cNvPr id="43" name="Picture 42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50392" y="2606040"/>
            <a:ext cx="1828800" cy="2286000"/>
          </a:xfrm>
          <a:prstGeom prst="roundRect">
            <a:avLst>
              <a:gd name="adj" fmla="val 8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2" y="278892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Work Sans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" y="32918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oto Sans CJK SC"/>
              </a:rPr>
              <a:t>领养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" y="3675888"/>
            <a:ext cx="1463040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SC"/>
              </a:rPr>
              <a:t>苔苔、啵啵或微光。免费，无需钱包。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2734056" y="3602736"/>
            <a:ext cx="228600" cy="292608"/>
          </a:xfrm>
          <a:prstGeom prst="rightArrow">
            <a:avLst/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017520" y="2606040"/>
            <a:ext cx="1828800" cy="2286000"/>
          </a:xfrm>
          <a:prstGeom prst="roundRect">
            <a:avLst>
              <a:gd name="adj" fmla="val 8000"/>
            </a:avLst>
          </a:prstGeom>
          <a:solidFill>
            <a:srgbClr val="576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0" y="278892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Work Sans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32918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oto Sans CJK SC"/>
              </a:rPr>
              <a:t>照料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3675888"/>
            <a:ext cx="1463040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 CJK SC"/>
              </a:rPr>
              <a:t>软计时。不会因疏忽而死。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4901184" y="3602736"/>
            <a:ext cx="228600" cy="292608"/>
          </a:xfrm>
          <a:prstGeom prst="rightArrow">
            <a:avLst/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184648" y="2606040"/>
            <a:ext cx="1828800" cy="2286000"/>
          </a:xfrm>
          <a:prstGeom prst="roundRect">
            <a:avLst>
              <a:gd name="adj" fmla="val 8000"/>
            </a:avLst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67528" y="278892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Work Sans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7528" y="32918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oto Sans CJK SC"/>
              </a:rPr>
              <a:t>旅行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7528" y="3675888"/>
            <a:ext cx="1463040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 CJK SC"/>
              </a:rPr>
              <a:t>打包、选地、等消息。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7068312" y="3602736"/>
            <a:ext cx="228600" cy="292608"/>
          </a:xfrm>
          <a:prstGeom prst="rightArrow">
            <a:avLst/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351776" y="2606040"/>
            <a:ext cx="1828800" cy="2286000"/>
          </a:xfrm>
          <a:prstGeom prst="roundRect">
            <a:avLst>
              <a:gd name="adj" fmla="val 8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34656" y="278892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Work Sans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34656" y="32918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 CJK SC"/>
              </a:rPr>
              <a:t>明信片 + 图鉴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34656" y="3675888"/>
            <a:ext cx="1463040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 CJK SC"/>
              </a:rPr>
              <a:t>故事明信片与收藏小物。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9235440" y="3602736"/>
            <a:ext cx="228600" cy="292608"/>
          </a:xfrm>
          <a:prstGeom prst="rightArrow">
            <a:avLst/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518904" y="2606040"/>
            <a:ext cx="1828800" cy="2286000"/>
          </a:xfrm>
          <a:prstGeom prst="roundRect">
            <a:avLst>
              <a:gd name="adj" fmla="val 8000"/>
            </a:avLst>
          </a:prstGeom>
          <a:solidFill>
            <a:srgbClr val="EADDBD"/>
          </a:solidFill>
          <a:ln w="15875">
            <a:solidFill>
              <a:srgbClr val="6C50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01784" y="278892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C503A"/>
                </a:solidFill>
                <a:latin typeface="Work Sans"/>
              </a:rPr>
              <a:t>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01784" y="32918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503A"/>
                </a:solidFill>
                <a:latin typeface="Noto Sans CJK SC"/>
              </a:rPr>
              <a:t>可选上链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01784" y="3675888"/>
            <a:ext cx="1463040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53535"/>
                </a:solidFill>
                <a:latin typeface="Noto Sans CJK SC"/>
              </a:rPr>
              <a:t>领取上链、旅程凭证、赠送——由你决定。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266176" y="4892040"/>
            <a:ext cx="0" cy="365760"/>
          </a:xfrm>
          <a:prstGeom prst="line">
            <a:avLst/>
          </a:prstGeom>
          <a:ln w="25400">
            <a:solidFill>
              <a:srgbClr val="576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3931920" y="5257800"/>
            <a:ext cx="4334256" cy="0"/>
          </a:xfrm>
          <a:prstGeom prst="line">
            <a:avLst/>
          </a:prstGeom>
          <a:ln w="25400">
            <a:solidFill>
              <a:srgbClr val="576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931920" y="4919472"/>
            <a:ext cx="0" cy="338328"/>
          </a:xfrm>
          <a:prstGeom prst="line">
            <a:avLst/>
          </a:prstGeom>
          <a:ln w="25400">
            <a:solidFill>
              <a:srgbClr val="576E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206240" y="5312664"/>
            <a:ext cx="3785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76E65"/>
                </a:solidFill>
                <a:latin typeface="Noto Sans CJK SC"/>
              </a:rPr>
              <a:t>回家 → 照料 → 下一次旅行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" y="5897880"/>
            <a:ext cx="10497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C503A"/>
                </a:solidFill>
                <a:latin typeface="Noto Sans CJK SC"/>
              </a:rPr>
              <a:t>情绪顺序：准备 → 等待 → 惊喜 → 炫耀 → 分享</a:t>
            </a:r>
          </a:p>
        </p:txBody>
      </p:sp>
      <p:pic>
        <p:nvPicPr>
          <p:cNvPr id="73" name="Picture 72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512" y="2002536"/>
            <a:ext cx="713232" cy="548640"/>
          </a:xfrm>
          <a:prstGeom prst="rect">
            <a:avLst/>
          </a:prstGeom>
        </p:spPr>
      </p:pic>
      <p:pic>
        <p:nvPicPr>
          <p:cNvPr id="74" name="Picture 73" descr="puddle-se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1984248"/>
            <a:ext cx="713232" cy="493776"/>
          </a:xfrm>
          <a:prstGeom prst="rect">
            <a:avLst/>
          </a:prstGeom>
        </p:spPr>
      </p:pic>
      <p:pic>
        <p:nvPicPr>
          <p:cNvPr id="75" name="Picture 74" descr="wisp-se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4744" y="1947672"/>
            <a:ext cx="640080" cy="5818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2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 rot="16200000">
            <a:off x="-1033272" y="2705710"/>
            <a:ext cx="3945636" cy="1446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ADDBD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SCREENS</a:t>
            </a:r>
            <a:endParaRPr lang="en-US" sz="8800" dirty="0"/>
          </a:p>
        </p:txBody>
      </p:sp>
      <p:pic>
        <p:nvPicPr>
          <p:cNvPr id="45" name="Picture 44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377440" y="71323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19566"/>
                </a:solidFill>
                <a:latin typeface="Noto Sans CJK SC"/>
              </a:rPr>
              <a:t>真实产品画面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987552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6C503A"/>
                </a:solidFill>
                <a:latin typeface="Noto Sans CJK SC"/>
              </a:rPr>
              <a:t>每一拍都已可玩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04288" y="1737360"/>
            <a:ext cx="1372303" cy="3941064"/>
          </a:xfrm>
          <a:prstGeom prst="roundRect">
            <a:avLst>
              <a:gd name="adj" fmla="val 6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6-travel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377440" y="1810512"/>
            <a:ext cx="1225999" cy="379476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103120" y="5769864"/>
            <a:ext cx="1774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C503A"/>
                </a:solidFill>
                <a:latin typeface="Noto Sans CJK SC"/>
              </a:rPr>
              <a:t>旅行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78927" y="1737360"/>
            <a:ext cx="1372303" cy="3941064"/>
          </a:xfrm>
          <a:prstGeom prst="roundRect">
            <a:avLst>
              <a:gd name="adj" fmla="val 6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07-away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52079" y="1810512"/>
            <a:ext cx="1225999" cy="37947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877759" y="5769864"/>
            <a:ext cx="1774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C503A"/>
                </a:solidFill>
                <a:latin typeface="Noto Sans CJK SC"/>
              </a:rPr>
              <a:t>在外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53567" y="1737360"/>
            <a:ext cx="1372303" cy="3941064"/>
          </a:xfrm>
          <a:prstGeom prst="roundRect">
            <a:avLst>
              <a:gd name="adj" fmla="val 6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09-postcar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926719" y="1810512"/>
            <a:ext cx="1225999" cy="379476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652399" y="5769864"/>
            <a:ext cx="1774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C503A"/>
                </a:solidFill>
                <a:latin typeface="Noto Sans CJK SC"/>
              </a:rPr>
              <a:t>明信片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28206" y="1737360"/>
            <a:ext cx="1372303" cy="3941064"/>
          </a:xfrm>
          <a:prstGeom prst="roundRect">
            <a:avLst>
              <a:gd name="adj" fmla="val 6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13-album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701358" y="1810512"/>
            <a:ext cx="1225999" cy="379476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427038" y="5769864"/>
            <a:ext cx="1774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C503A"/>
                </a:solidFill>
                <a:latin typeface="Noto Sans CJK SC"/>
              </a:rPr>
              <a:t>图鉴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02846" y="1737360"/>
            <a:ext cx="1372303" cy="3941064"/>
          </a:xfrm>
          <a:prstGeom prst="roundRect">
            <a:avLst>
              <a:gd name="adj" fmla="val 6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14-zh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475998" y="1810512"/>
            <a:ext cx="1225999" cy="379476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201678" y="5769864"/>
            <a:ext cx="1774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C503A"/>
                </a:solidFill>
                <a:latin typeface="Noto Sans CJK SC"/>
              </a:rPr>
              <a:t>中文界面</a:t>
            </a:r>
          </a:p>
        </p:txBody>
      </p:sp>
      <p:pic>
        <p:nvPicPr>
          <p:cNvPr id="63" name="Picture 62" descr="wisp-su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4200" y="4800600"/>
            <a:ext cx="868680" cy="9871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 rot="16200000">
            <a:off x="-1669694" y="2874874"/>
            <a:ext cx="5219395" cy="11082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ADDBD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DEMO</a:t>
            </a:r>
            <a:endParaRPr lang="en-US" sz="6600" dirty="0"/>
          </a:p>
        </p:txBody>
      </p:sp>
      <p:pic>
        <p:nvPicPr>
          <p:cNvPr id="22" name="Picture 21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773936" y="71323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19566"/>
                </a:solidFill>
                <a:latin typeface="Noto Sans CJK SC"/>
              </a:rPr>
              <a:t>现场演示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3936" y="987552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6C503A"/>
                </a:solidFill>
                <a:latin typeface="Noto Sans CJK SC"/>
              </a:rPr>
              <a:t>真 Phantom、真 Devnet，今天可玩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17243" y="1773936"/>
            <a:ext cx="3119933" cy="1993392"/>
          </a:xfrm>
          <a:prstGeom prst="roundRect">
            <a:avLst>
              <a:gd name="adj" fmla="val 4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3-04-phantom-confi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107" y="1849051"/>
            <a:ext cx="3010205" cy="1843163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1717243" y="3913632"/>
            <a:ext cx="3119933" cy="1188720"/>
          </a:xfrm>
          <a:prstGeom prst="roundRect">
            <a:avLst>
              <a:gd name="adj" fmla="val 8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00123" y="4096512"/>
            <a:ext cx="275417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oto Sans CJK SC"/>
              </a:rPr>
              <a:t>1  领取上链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0123" y="4480560"/>
            <a:ext cx="275417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Noto Sans CJK SC"/>
              </a:rPr>
              <a:t>共签 Metaplex Core 伙伴——可见网络、资产与费用。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8441" y="1773936"/>
            <a:ext cx="3119933" cy="1993392"/>
          </a:xfrm>
          <a:prstGeom prst="roundRect">
            <a:avLst>
              <a:gd name="adj" fmla="val 4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v3-08-receipt-confirm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305" y="1829943"/>
            <a:ext cx="3010205" cy="188137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898441" y="3913632"/>
            <a:ext cx="3119933" cy="1188720"/>
          </a:xfrm>
          <a:prstGeom prst="roundRect">
            <a:avLst>
              <a:gd name="adj" fmla="val 8000"/>
            </a:avLst>
          </a:prstGeom>
          <a:solidFill>
            <a:srgbClr val="576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81321" y="4096512"/>
            <a:ext cx="275417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oto Sans CJK SC"/>
              </a:rPr>
              <a:t>2  旅程凭证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1321" y="4480560"/>
            <a:ext cx="275417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Noto Sans CJK SC"/>
              </a:rPr>
              <a:t>Checkpoint v2 凭证：已结算旅途哈希上链。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9638" y="1773936"/>
            <a:ext cx="3119933" cy="1993392"/>
          </a:xfrm>
          <a:prstGeom prst="roundRect">
            <a:avLst>
              <a:gd name="adj" fmla="val 4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gift4-07-gift-confirm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4502" y="1829943"/>
            <a:ext cx="3010205" cy="188137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079638" y="3913632"/>
            <a:ext cx="3119933" cy="1188720"/>
          </a:xfrm>
          <a:prstGeom prst="roundRect">
            <a:avLst>
              <a:gd name="adj" fmla="val 8000"/>
            </a:avLst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2518" y="4096512"/>
            <a:ext cx="275417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oto Sans CJK SC"/>
              </a:rPr>
              <a:t>3  赠送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2518" y="4480560"/>
            <a:ext cx="275417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Noto Sans CJK SC"/>
              </a:rPr>
              <a:t>主人签名转移；好友同步后继续照料。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3936" y="5303520"/>
            <a:ext cx="9418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C503A"/>
                </a:solidFill>
                <a:latin typeface="Noto Sans CJK SC"/>
                <a:hlinkClick r:id="rId7"/>
              </a:rPr>
              <a:t>公网：https://175.178.27.231/  ·  真 Phantom · Solana Devnet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73936" y="5687568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76E65"/>
                </a:solidFill>
                <a:latin typeface="Noto Sans CJK SC"/>
                <a:hlinkClick r:id="rId8"/>
              </a:rPr>
              <a:t>演示视频：github.com/weswes233/PixelPets/releases/download/demo-videos-2026-10-10/PixelPets-product-demo-en-v5.mp4</a:t>
            </a:r>
          </a:p>
        </p:txBody>
      </p:sp>
      <p:pic>
        <p:nvPicPr>
          <p:cNvPr id="42" name="Picture 41" descr="puddle-su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8440" y="86868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3960266" cy="2453335"/>
          </a:xfrm>
          <a:prstGeom prst="round1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35" name="Picture 34" descr="v3-01-siws-confirm.png"/>
          <p:cNvPicPr>
            <a:picLocks noChangeAspect="1"/>
          </p:cNvPicPr>
          <p:nvPr/>
        </p:nvPicPr>
        <p:blipFill>
          <a:blip r:embed="rId3"/>
          <a:srcRect l="580" r="580"/>
          <a:stretch>
            <a:fillRect/>
          </a:stretch>
        </p:blipFill>
        <p:spPr>
          <a:xfrm>
            <a:off x="0" y="0"/>
            <a:ext cx="3960266" cy="2453335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 flipV="1">
            <a:off x="4115714" y="0"/>
            <a:ext cx="3960266" cy="2453335"/>
          </a:xfrm>
          <a:prstGeom prst="round2Same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38" name="Picture 37" descr="v3-02-wallet-connected.png"/>
          <p:cNvPicPr>
            <a:picLocks noChangeAspect="1"/>
          </p:cNvPicPr>
          <p:nvPr/>
        </p:nvPicPr>
        <p:blipFill>
          <a:blip r:embed="rId4"/>
          <a:srcRect l="3181" r="3181"/>
          <a:stretch>
            <a:fillRect/>
          </a:stretch>
        </p:blipFill>
        <p:spPr>
          <a:xfrm>
            <a:off x="4115714" y="0"/>
            <a:ext cx="3960266" cy="2453335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 flipH="1" flipV="1">
            <a:off x="8232343" y="0"/>
            <a:ext cx="3960266" cy="2453335"/>
          </a:xfrm>
          <a:prstGeom prst="round1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41" name="Picture 40" descr="v3-03-claim-review.png"/>
          <p:cNvPicPr>
            <a:picLocks noChangeAspect="1"/>
          </p:cNvPicPr>
          <p:nvPr/>
        </p:nvPicPr>
        <p:blipFill>
          <a:blip r:embed="rId5"/>
          <a:srcRect l="3181" r="3181"/>
          <a:stretch>
            <a:fillRect/>
          </a:stretch>
        </p:blipFill>
        <p:spPr>
          <a:xfrm>
            <a:off x="8232343" y="0"/>
            <a:ext cx="3960266" cy="2453335"/>
          </a:xfrm>
          <a:prstGeom prst="rect">
            <a:avLst/>
          </a:prstGeom>
        </p:spPr>
      </p:pic>
      <p:sp>
        <p:nvSpPr>
          <p:cNvPr id="18" name="Shape 16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651760" y="26060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03A"/>
                </a:solidFill>
                <a:latin typeface="Noto Sans CJK SC" pitchFamily="34" charset="0"/>
              </a:rPr>
              <a:t>Devnet 上的真实交易</a:t>
            </a:r>
            <a:endParaRPr lang="en-US" sz="4400" dirty="0"/>
          </a:p>
        </p:txBody>
      </p:sp>
      <p:sp>
        <p:nvSpPr>
          <p:cNvPr id="36" name="Rounded Rectangle 35"/>
          <p:cNvSpPr/>
          <p:nvPr/>
        </p:nvSpPr>
        <p:spPr>
          <a:xfrm>
            <a:off x="164592" y="2011680"/>
            <a:ext cx="2514600" cy="329184"/>
          </a:xfrm>
          <a:prstGeom prst="roundRect">
            <a:avLst>
              <a:gd name="adj" fmla="val 30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201168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Work Sans"/>
              </a:rPr>
              <a:t>1  Sign in with Solana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80306" y="2011680"/>
            <a:ext cx="2514600" cy="329184"/>
          </a:xfrm>
          <a:prstGeom prst="roundRect">
            <a:avLst>
              <a:gd name="adj" fmla="val 30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0034" y="201168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 CJK SC"/>
              </a:rPr>
              <a:t>2  钱包已连接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96935" y="2011680"/>
            <a:ext cx="2514600" cy="329184"/>
          </a:xfrm>
          <a:prstGeom prst="roundRect">
            <a:avLst>
              <a:gd name="adj" fmla="val 30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6663" y="201168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 CJK SC"/>
              </a:rPr>
              <a:t>3  确认领取上链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5168" y="3520440"/>
            <a:ext cx="2103120" cy="1348740"/>
          </a:xfrm>
          <a:prstGeom prst="roundRect">
            <a:avLst>
              <a:gd name="adj" fmla="val 5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v3-05-claimed-on-devn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88" y="3566160"/>
            <a:ext cx="2011680" cy="12573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09448" y="498348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C503A"/>
                </a:solidFill>
                <a:latin typeface="Noto Sans CJK SC"/>
              </a:rPr>
              <a:t>4  已在 Devnet 领取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49728" y="3520440"/>
            <a:ext cx="2103120" cy="1348740"/>
          </a:xfrm>
          <a:prstGeom prst="roundRect">
            <a:avLst>
              <a:gd name="adj" fmla="val 5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v3-06-journey-receipt-read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448" y="3611344"/>
            <a:ext cx="2011680" cy="116693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804008" y="498348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C503A"/>
                </a:solidFill>
                <a:latin typeface="Noto Sans CJK SC"/>
              </a:rPr>
              <a:t>5  凭证就绪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44288" y="3520440"/>
            <a:ext cx="2103120" cy="1348740"/>
          </a:xfrm>
          <a:prstGeom prst="roundRect">
            <a:avLst>
              <a:gd name="adj" fmla="val 5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v3-07-phantom-receipt-confir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008" y="3578929"/>
            <a:ext cx="2011680" cy="123176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998568" y="498348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C503A"/>
                </a:solidFill>
                <a:latin typeface="Noto Sans CJK SC"/>
              </a:rPr>
              <a:t>6  签署旅程凭证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38848" y="3520440"/>
            <a:ext cx="2103120" cy="1348740"/>
          </a:xfrm>
          <a:prstGeom prst="roundRect">
            <a:avLst>
              <a:gd name="adj" fmla="val 5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gift5-sync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4568" y="3566160"/>
            <a:ext cx="2011680" cy="12573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193128" y="498348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C503A"/>
                </a:solidFill>
                <a:latin typeface="Noto Sans CJK SC"/>
              </a:rPr>
              <a:t>7  好友钱包同步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33408" y="3520440"/>
            <a:ext cx="2103120" cy="1348740"/>
          </a:xfrm>
          <a:prstGeom prst="roundRect">
            <a:avLst>
              <a:gd name="adj" fmla="val 5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gift5-fe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9128" y="3566160"/>
            <a:ext cx="2011680" cy="12573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87688" y="498348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C503A"/>
                </a:solidFill>
                <a:latin typeface="Noto Sans CJK SC"/>
              </a:rPr>
              <a:t>8  好友继续照料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" y="57150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76E65"/>
                </a:solidFill>
                <a:latin typeface="Noto Sans CJK SC"/>
              </a:rPr>
              <a:t>每一步都是 Solana Devnet 上真实的 Phantom 签名——2026-10-10 QA。赠送已用第二钱包跑通。</a:t>
            </a:r>
          </a:p>
        </p:txBody>
      </p:sp>
      <p:pic>
        <p:nvPicPr>
          <p:cNvPr id="60" name="Picture 59" descr="moss-su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6920" y="2578608"/>
            <a:ext cx="731520" cy="703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4866" y="3862426"/>
            <a:ext cx="4540910" cy="1726387"/>
          </a:xfrm>
          <a:prstGeom prst="roundRect">
            <a:avLst>
              <a:gd name="adj" fmla="val 7786"/>
            </a:avLst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37" name="Picture 36" descr="solana.png"/>
          <p:cNvPicPr>
            <a:picLocks noChangeAspect="1"/>
          </p:cNvPicPr>
          <p:nvPr/>
        </p:nvPicPr>
        <p:blipFill>
          <a:blip r:embed="rId4"/>
          <a:srcRect t="101" b="101"/>
          <a:stretch>
            <a:fillRect/>
          </a:stretch>
        </p:blipFill>
        <p:spPr>
          <a:xfrm>
            <a:off x="6474866" y="3862426"/>
            <a:ext cx="4540910" cy="1726387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88136" y="1281989"/>
            <a:ext cx="2073859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Noto Sans CJK SC" pitchFamily="34" charset="0"/>
              </a:rPr>
              <a:t>上链，有目的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88136" y="1481328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C503A"/>
                </a:solidFill>
                <a:latin typeface="Noto Sans CJK SC" pitchFamily="34" charset="0"/>
              </a:rPr>
              <a:t>什么上 Solana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1088136" y="22860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53535"/>
                </a:solidFill>
                <a:latin typeface="Noto Sans CJK SC" pitchFamily="34" charset="0"/>
              </a:rPr>
              <a:t>Devnet 上的 Anchor 程序 + Metaplex Core 合集。日常照料与旅行 RNG 留在链下——链上存出处，不是每一口零食。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91463" y="3429000"/>
            <a:ext cx="2159813" cy="2159813"/>
          </a:xfrm>
          <a:prstGeom prst="roundRect">
            <a:avLst>
              <a:gd name="adj" fmla="val 7790"/>
            </a:avLst>
          </a:prstGeom>
          <a:solidFill>
            <a:srgbClr val="6C503A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534363" y="3862426"/>
            <a:ext cx="95920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01.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534363" y="4387291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</a:rPr>
              <a:t>领取上链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34363" y="4642409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</a:rPr>
              <a:t>Metaplex Core 伙伴，共签铸造。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72561" y="3429000"/>
            <a:ext cx="2159813" cy="2159813"/>
          </a:xfrm>
          <a:prstGeom prst="roundRect">
            <a:avLst>
              <a:gd name="adj" fmla="val 7790"/>
            </a:avLst>
          </a:prstGeom>
          <a:solidFill>
            <a:srgbClr val="576E65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915461" y="3862426"/>
            <a:ext cx="95920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02.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915461" y="4387291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PetRecord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15461" y="4642409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</a:rPr>
              <a:t>领取时写入；存 checkpoint 哈希。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74866" y="1296619"/>
            <a:ext cx="2159813" cy="2159813"/>
          </a:xfrm>
          <a:prstGeom prst="roundRect">
            <a:avLst>
              <a:gd name="adj" fmla="val 7790"/>
            </a:avLst>
          </a:prstGeom>
          <a:solidFill>
            <a:srgbClr val="6C503A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817766" y="1730045"/>
            <a:ext cx="95920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03.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817766" y="225491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</a:rPr>
              <a:t>旅程凭证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7766" y="2510028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CJK SC" pitchFamily="34" charset="0"/>
              </a:rPr>
              <a:t>Checkpoint v2：已结算旅途哈希，公开可验。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56878" y="1296619"/>
            <a:ext cx="2159813" cy="2159813"/>
          </a:xfrm>
          <a:prstGeom prst="roundRect">
            <a:avLst>
              <a:gd name="adj" fmla="val 7790"/>
            </a:avLst>
          </a:prstGeom>
          <a:solidFill>
            <a:srgbClr val="D19566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199778" y="1730045"/>
            <a:ext cx="95920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04.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9199778" y="225491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</a:rPr>
              <a:t>赠送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99778" y="2510028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CJK SC" pitchFamily="34" charset="0"/>
              </a:rPr>
              <a:t>主人签名 Core 转移；接收方同步并继续照料。</a:t>
            </a:r>
            <a:endParaRPr lang="en-US" sz="1050" dirty="0"/>
          </a:p>
        </p:txBody>
      </p:sp>
      <p:pic>
        <p:nvPicPr>
          <p:cNvPr id="36" name="Picture 35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88136" y="585216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76E65"/>
                </a:solidFill>
                <a:latin typeface="Noto Sans CJK SC"/>
              </a:rPr>
              <a:t>程序  </a:t>
            </a:r>
            <a:r>
              <a:rPr sz="1400" b="1">
                <a:solidFill>
                  <a:srgbClr val="6C503A"/>
                </a:solidFill>
                <a:latin typeface="Work Sans"/>
              </a:rPr>
              <a:t>2SCKfWszFZuqsjcmRbtmctHwZTgQopYmGSofoEtQm2nT</a:t>
            </a:r>
            <a:r>
              <a:rPr sz="1400" b="0">
                <a:solidFill>
                  <a:srgbClr val="353535"/>
                </a:solidFill>
                <a:latin typeface="Work Sans"/>
              </a:rPr>
              <a:t>   ·   Solana Devnet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31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863694" y="1104595"/>
            <a:ext cx="2197303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Noto Sans CJK SC" pitchFamily="34" charset="0"/>
              </a:rPr>
              <a:t>架构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984248" y="1304849"/>
            <a:ext cx="8229600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03A"/>
                </a:solidFill>
                <a:latin typeface="Noto Sans CJK SC" pitchFamily="34" charset="0"/>
              </a:rPr>
              <a:t>照料在链下，证明在链上</a:t>
            </a:r>
            <a:endParaRPr lang="en-US" sz="4400" dirty="0"/>
          </a:p>
        </p:txBody>
      </p:sp>
      <p:pic>
        <p:nvPicPr>
          <p:cNvPr id="44" name="Picture 43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22960" y="251460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267004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Work Sans"/>
              </a:rPr>
              <a:t>Godot Web client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301752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Noto Sans CJK SC"/>
              </a:rPr>
              <a:t>领养、照料、旅行与图鉴——浏览器内完成。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06240" y="251460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576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267004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Work Sans"/>
              </a:rPr>
              <a:t>Node + SQLite server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301752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Noto Sans CJK SC"/>
              </a:rPr>
              <a:t>照料计时、旅行 RNG；结算每次旅途。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8080" y="2286000"/>
            <a:ext cx="3840480" cy="329184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D195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26680" y="237744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9566"/>
                </a:solidFill>
                <a:latin typeface="Work Sans"/>
              </a:rPr>
              <a:t>Solana Devnet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26680" y="2743200"/>
            <a:ext cx="3383280" cy="1005840"/>
          </a:xfrm>
          <a:prstGeom prst="roundRect">
            <a:avLst>
              <a:gd name="adj" fmla="val 10000"/>
            </a:avLst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09560" y="289864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Work Sans"/>
              </a:rPr>
              <a:t>Anchor program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32461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Noto Sans CJK SC"/>
              </a:rPr>
              <a:t>PetRecord + checkpoint v2 旅程凭证。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26680" y="3886200"/>
            <a:ext cx="3383280" cy="1005840"/>
          </a:xfrm>
          <a:prstGeom prst="roundRect">
            <a:avLst>
              <a:gd name="adj" fmla="val 10000"/>
            </a:avLst>
          </a:prstGeom>
          <a:solidFill>
            <a:srgbClr val="B79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09560" y="404164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Work Sans"/>
              </a:rPr>
              <a:t>Metaplex Core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43891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Noto Sans CJK SC"/>
              </a:rPr>
              <a:t>伙伴资产；主人签名转移。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" y="4617720"/>
            <a:ext cx="26517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6C5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4773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C503A"/>
                </a:solidFill>
                <a:latin typeface="Work Sans"/>
              </a:rPr>
              <a:t>Phantom wallet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" y="51206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53535"/>
                </a:solidFill>
                <a:latin typeface="Noto Sans CJK SC"/>
              </a:rPr>
              <a:t>玩家签名——只在自己选择时。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520440" y="3246120"/>
            <a:ext cx="640080" cy="0"/>
          </a:xfrm>
          <a:prstGeom prst="line">
            <a:avLst/>
          </a:prstGeom>
          <a:ln w="25400">
            <a:solidFill>
              <a:srgbClr val="6C5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474720" y="2880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6C503A"/>
                </a:solidFill>
                <a:latin typeface="Work Sans"/>
              </a:rPr>
              <a:t>API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903720" y="3246120"/>
            <a:ext cx="777240" cy="0"/>
          </a:xfrm>
          <a:prstGeom prst="line">
            <a:avLst/>
          </a:prstGeom>
          <a:ln w="25400">
            <a:solidFill>
              <a:srgbClr val="6C5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812280" y="3337560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6C503A"/>
                </a:solidFill>
                <a:latin typeface="Noto Sans CJK SC"/>
              </a:rPr>
              <a:t>共签</a:t>
            </a:r>
          </a:p>
          <a:p>
            <a:pPr algn="ctr"/>
            <a:r>
              <a:rPr sz="1050" b="1" i="0">
                <a:solidFill>
                  <a:srgbClr val="6C503A"/>
                </a:solidFill>
                <a:latin typeface="Noto Sans CJK SC"/>
              </a:rPr>
              <a:t>旅途哈希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148840" y="4023360"/>
            <a:ext cx="0" cy="548640"/>
          </a:xfrm>
          <a:prstGeom prst="line">
            <a:avLst/>
          </a:prstGeom>
          <a:ln w="25400">
            <a:solidFill>
              <a:srgbClr val="6C5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286000" y="4160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C503A"/>
                </a:solidFill>
                <a:latin typeface="Noto Sans CJK SC"/>
              </a:rPr>
              <a:t>连接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520440" y="5257800"/>
            <a:ext cx="4160520" cy="0"/>
          </a:xfrm>
          <a:prstGeom prst="line">
            <a:avLst/>
          </a:prstGeom>
          <a:ln w="25400">
            <a:solidFill>
              <a:srgbClr val="6C5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657600" y="4919472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C503A"/>
                </a:solidFill>
                <a:latin typeface="Noto Sans CJK SC"/>
              </a:rPr>
              <a:t>签署领取 · 凭证 · 赠送</a:t>
            </a:r>
          </a:p>
        </p:txBody>
      </p:sp>
      <p:pic>
        <p:nvPicPr>
          <p:cNvPr id="70" name="Picture 69" descr="wisp-m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4956048"/>
            <a:ext cx="502920" cy="548640"/>
          </a:xfrm>
          <a:prstGeom prst="rect">
            <a:avLst/>
          </a:prstGeom>
        </p:spPr>
      </p:pic>
      <p:pic>
        <p:nvPicPr>
          <p:cNvPr id="71" name="Picture 70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938528"/>
            <a:ext cx="658368" cy="50643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76E65"/>
                </a:solidFill>
                <a:latin typeface="Noto Sans CJK SC"/>
              </a:rPr>
              <a:t>链下为体验：日常照料 + 旅行 RNG。  链上为信任：身份、出处、赠送。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446581" y="2441448"/>
            <a:ext cx="2752344" cy="3088843"/>
          </a:xfrm>
          <a:prstGeom prst="roundRect">
            <a:avLst>
              <a:gd name="adj" fmla="val 8206"/>
            </a:avLst>
          </a:prstGeom>
          <a:solidFill>
            <a:srgbClr val="6C503A"/>
          </a:solidFill>
          <a:ln/>
          <a:effectLst>
            <a:outerShdw sx="100000" sy="100000" kx="0" ky="0" algn="bl" rotWithShape="0" blurRad="635000" dist="254000" dir="684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446581" y="2820924"/>
            <a:ext cx="2752344" cy="6327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675181" y="2937967"/>
            <a:ext cx="2286000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</a:rPr>
              <a:t>旅行青蛙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20901" y="3639312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 b="1">
                <a:solidFill>
                  <a:srgbClr val="FFFFFF"/>
                </a:solidFill>
                <a:latin typeface="Noto Sans CJK SC" pitchFamily="34" charset="0"/>
              </a:rPr>
              <a:t>我们取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CJK SC" pitchFamily="34" charset="0"/>
              </a:rPr>
              <a:t>离线期待 + 纪念品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 b="1">
                <a:solidFill>
                  <a:srgbClr val="FFFFFF"/>
                </a:solidFill>
                <a:latin typeface="Noto Sans CJK SC" pitchFamily="34" charset="0"/>
              </a:rPr>
              <a:t>我们放下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CJK SC" pitchFamily="34" charset="0"/>
              </a:rPr>
              <a:t>没有可上链的东西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0133" y="2441448"/>
            <a:ext cx="2752344" cy="3088843"/>
          </a:xfrm>
          <a:prstGeom prst="roundRect">
            <a:avLst>
              <a:gd name="adj" fmla="val 8206"/>
            </a:avLst>
          </a:prstGeom>
          <a:solidFill>
            <a:srgbClr val="576E65"/>
          </a:solidFill>
          <a:ln/>
          <a:effectLst>
            <a:outerShdw sx="100000" sy="100000" kx="0" ky="0" algn="bl" rotWithShape="0" blurRad="635000" dist="254000" dir="684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720133" y="2820924"/>
            <a:ext cx="2752344" cy="6327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48733" y="2937967"/>
            <a:ext cx="2286000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</a:rPr>
              <a:t>典型 NFT 宠物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94453" y="3639312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 b="1">
                <a:solidFill>
                  <a:srgbClr val="FFFFFF"/>
                </a:solidFill>
                <a:latin typeface="Noto Sans CJK SC" pitchFamily="34" charset="0"/>
              </a:rPr>
              <a:t>我们取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CJK SC" pitchFamily="34" charset="0"/>
              </a:rPr>
              <a:t>归属权 + 赠送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 b="1">
                <a:solidFill>
                  <a:srgbClr val="FFFFFF"/>
                </a:solidFill>
                <a:latin typeface="Noto Sans CJK SC" pitchFamily="34" charset="0"/>
              </a:rPr>
              <a:t>我们放下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</a:rPr>
              <a:t>每日喂养上链与代币排放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92770" y="2441448"/>
            <a:ext cx="2752344" cy="3088843"/>
          </a:xfrm>
          <a:prstGeom prst="roundRect">
            <a:avLst>
              <a:gd name="adj" fmla="val 8206"/>
            </a:avLst>
          </a:prstGeom>
          <a:solidFill>
            <a:srgbClr val="D19566"/>
          </a:solidFill>
          <a:ln/>
          <a:effectLst>
            <a:outerShdw sx="100000" sy="100000" kx="0" ky="0" algn="bl" rotWithShape="0" blurRad="635000" dist="254000" dir="684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992770" y="2820924"/>
            <a:ext cx="2752344" cy="6327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21370" y="2937967"/>
            <a:ext cx="2286000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</a:rPr>
              <a:t>Axie 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67090" y="3639312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 b="1">
                <a:solidFill>
                  <a:srgbClr val="FFFFFF"/>
                </a:solidFill>
                <a:latin typeface="Noto Sans CJK SC" pitchFamily="34" charset="0"/>
              </a:rPr>
              <a:t>我们取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CJK SC" pitchFamily="34" charset="0"/>
              </a:rPr>
              <a:t>羁绊 + 形态成长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 b="1">
                <a:solidFill>
                  <a:srgbClr val="FFFFFF"/>
                </a:solidFill>
                <a:latin typeface="Noto Sans CJK SC" pitchFamily="34" charset="0"/>
              </a:rPr>
              <a:t>我们放下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CJK SC" pitchFamily="34" charset="0"/>
              </a:rPr>
              <a:t>第一天就投机繁殖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3694" y="1104595"/>
            <a:ext cx="2197303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Noto Sans CJK SC" pitchFamily="34" charset="0"/>
              </a:rPr>
              <a:t>差异化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066898" y="1304849"/>
            <a:ext cx="5789981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03A"/>
                </a:solidFill>
                <a:latin typeface="Noto Sans CJK SC" pitchFamily="34" charset="0"/>
              </a:rPr>
              <a:t>我们取什么，留什么</a:t>
            </a:r>
            <a:endParaRPr lang="en-US" sz="4400" dirty="0"/>
          </a:p>
        </p:txBody>
      </p:sp>
      <p:pic>
        <p:nvPicPr>
          <p:cNvPr id="32" name="Picture 31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pic>
        <p:nvPicPr>
          <p:cNvPr id="33" name="Picture 32" descr="moss-s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525" y="1938528"/>
            <a:ext cx="731520" cy="703385"/>
          </a:xfrm>
          <a:prstGeom prst="rect">
            <a:avLst/>
          </a:prstGeom>
        </p:spPr>
      </p:pic>
      <p:pic>
        <p:nvPicPr>
          <p:cNvPr id="34" name="Picture 33" descr="puddle-su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077" y="1938528"/>
            <a:ext cx="731520" cy="731520"/>
          </a:xfrm>
          <a:prstGeom prst="rect">
            <a:avLst/>
          </a:prstGeom>
        </p:spPr>
      </p:pic>
      <p:pic>
        <p:nvPicPr>
          <p:cNvPr id="35" name="Picture 34" descr="wisp-s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0714" y="1938528"/>
            <a:ext cx="731520" cy="8312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7105" y="1295705"/>
            <a:ext cx="4304995" cy="5562295"/>
          </a:xfrm>
          <a:prstGeom prst="round2SameRect">
            <a:avLst>
              <a:gd name="adj" fmla="val 9579"/>
            </a:avLst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34" name="Picture 33" descr="business.png"/>
          <p:cNvPicPr>
            <a:picLocks noChangeAspect="1"/>
          </p:cNvPicPr>
          <p:nvPr/>
        </p:nvPicPr>
        <p:blipFill>
          <a:blip r:embed="rId4"/>
          <a:srcRect l="387" r="387"/>
          <a:stretch>
            <a:fillRect/>
          </a:stretch>
        </p:blipFill>
        <p:spPr>
          <a:xfrm>
            <a:off x="1067105" y="1295705"/>
            <a:ext cx="4304995" cy="5562295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 flipV="1">
            <a:off x="5554066" y="0"/>
            <a:ext cx="1588313" cy="5562295"/>
          </a:xfrm>
          <a:prstGeom prst="round2SameRect">
            <a:avLst>
              <a:gd name="adj" fmla="val 24583"/>
            </a:avLst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35" name="Picture 34" descr="strip.png"/>
          <p:cNvPicPr>
            <a:picLocks noChangeAspect="1"/>
          </p:cNvPicPr>
          <p:nvPr/>
        </p:nvPicPr>
        <p:blipFill>
          <a:blip r:embed="rId5"/>
          <a:srcRect l="29" r="29"/>
          <a:stretch>
            <a:fillRect/>
          </a:stretch>
        </p:blipFill>
        <p:spPr>
          <a:xfrm>
            <a:off x="5554066" y="0"/>
            <a:ext cx="1588313" cy="5562295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rot="5400000">
            <a:off x="0" y="3421685"/>
            <a:ext cx="2159813" cy="2159813"/>
          </a:xfrm>
          <a:prstGeom prst="round2SameRect">
            <a:avLst>
              <a:gd name="adj" fmla="val 12320"/>
            </a:avLst>
          </a:prstGeom>
          <a:solidFill>
            <a:srgbClr val="576E65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35347" y="2184502"/>
            <a:ext cx="1252728" cy="1252728"/>
          </a:xfrm>
          <a:prstGeom prst="roundRect">
            <a:avLst>
              <a:gd name="adj" fmla="val 10803"/>
            </a:avLst>
          </a:prstGeom>
          <a:solidFill>
            <a:srgbClr val="D19566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863840" y="1097280"/>
            <a:ext cx="2743200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Noto Sans CJK SC" pitchFamily="34" charset="0"/>
              </a:rPr>
              <a:t>商业模式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63840" y="141732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3000" b="1" dirty="0">
                <a:solidFill>
                  <a:srgbClr val="6C503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</a:t>
            </a:r>
            <a:endParaRPr lang="en-US" sz="44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6C503A"/>
                </a:solidFill>
                <a:latin typeface="Noto Sans CJK SC" pitchFamily="34" charset="0"/>
              </a:rPr>
              <a:t>项目代币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342900" y="3794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</a:rPr>
              <a:t>今日 Devnet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" y="41605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</a:rPr>
              <a:t>尚无现金价值——刻意如此。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01184" y="239572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</a:rPr>
              <a:t>免费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873752" y="2852928"/>
            <a:ext cx="11795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CJK SC" pitchFamily="34" charset="0"/>
              </a:rPr>
              <a:t>照料与物资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251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76E65"/>
                </a:solidFill>
                <a:latin typeface="Noto Sans CJK SC" pitchFamily="34" charset="0"/>
              </a:rPr>
              <a:t>以后怎么赚钱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45902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53535"/>
                </a:solidFill>
                <a:latin typeface="Noto Sans CJK SC" pitchFamily="34" charset="0"/>
              </a:rPr>
              <a:t>可预览的外观、房间框与主题路线包——不是排放，不是披着宠物皮的赌场。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63840" y="5577840"/>
            <a:ext cx="3657600" cy="685800"/>
          </a:xfrm>
          <a:prstGeom prst="roundRect">
            <a:avLst>
              <a:gd name="adj" fmla="val 10870"/>
            </a:avLst>
          </a:prstGeom>
          <a:solidFill>
            <a:srgbClr val="D19566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 wrap="square" rtlCol="0" anchor="ctr" lIns="164592" rIns="164592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</a:rPr>
              <a:t>止损线：若玩家只问「wen token」，我们先修好玩具。</a:t>
            </a:r>
            <a:endParaRPr lang="en-US" sz="1200" dirty="0"/>
          </a:p>
        </p:txBody>
      </p:sp>
      <p:pic>
        <p:nvPicPr>
          <p:cNvPr id="33" name="Picture 32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9519" y="2419502"/>
            <a:ext cx="976579" cy="976579"/>
          </a:xfrm>
          <a:prstGeom prst="ellipse">
            <a:avLst/>
          </a:prstGeom>
          <a:solidFill>
            <a:srgbClr val="D19566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43991" y="3494837"/>
            <a:ext cx="2567635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3535"/>
                </a:solidFill>
                <a:latin typeface="Noto Sans CJK SC" pitchFamily="34" charset="0"/>
              </a:rPr>
              <a:t>核心循环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3991" y="3794760"/>
            <a:ext cx="25676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53535"/>
                </a:solidFill>
                <a:latin typeface="Noto Sans CJK SC" pitchFamily="34" charset="0"/>
              </a:rPr>
              <a:t>旅行循环、图鉴与 Devnet 程序。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70762" y="4584802"/>
            <a:ext cx="2187245" cy="1008583"/>
          </a:xfrm>
          <a:prstGeom prst="roundRect">
            <a:avLst>
              <a:gd name="adj" fmla="val 9882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23137" y="4832604"/>
            <a:ext cx="423367" cy="423367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76349" y="4832604"/>
            <a:ext cx="108905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</a:rPr>
              <a:t>完成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6349" y="5032858"/>
            <a:ext cx="108905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Noto Sans CJK SC" pitchFamily="34" charset="0"/>
              </a:rPr>
              <a:t>已上线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3108" y="2419502"/>
            <a:ext cx="976579" cy="976579"/>
          </a:xfrm>
          <a:prstGeom prst="ellipse">
            <a:avLst/>
          </a:prstGeom>
          <a:solidFill>
            <a:srgbClr val="6C503A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97580" y="3494837"/>
            <a:ext cx="2567635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3535"/>
                </a:solidFill>
                <a:latin typeface="Noto Sans CJK SC" pitchFamily="34" charset="0"/>
              </a:rPr>
              <a:t>真钱包 QA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97580" y="3794760"/>
            <a:ext cx="25676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53535"/>
                </a:solidFill>
                <a:latin typeface="Noto Sans CJK SC" pitchFamily="34" charset="0"/>
              </a:rPr>
              <a:t>真 Phantom 领取、凭证与赠送 QA；公网演示。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90518" y="4584802"/>
            <a:ext cx="2187245" cy="1008583"/>
          </a:xfrm>
          <a:prstGeom prst="roundRect">
            <a:avLst>
              <a:gd name="adj" fmla="val 9882"/>
            </a:avLst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942893" y="4832604"/>
            <a:ext cx="423367" cy="423367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6105" y="4832604"/>
            <a:ext cx="108905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</a:rPr>
              <a:t>完成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96105" y="5032858"/>
            <a:ext cx="108905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Noto Sans CJK SC" pitchFamily="34" charset="0"/>
              </a:rPr>
              <a:t>已上线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47611" y="2419502"/>
            <a:ext cx="976579" cy="976579"/>
          </a:xfrm>
          <a:prstGeom prst="ellipse">
            <a:avLst/>
          </a:prstGeom>
          <a:solidFill>
            <a:srgbClr val="D19566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52083" y="3494837"/>
            <a:ext cx="2567635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3535"/>
                </a:solidFill>
                <a:latin typeface="Noto Sans CJK SC" pitchFamily="34" charset="0"/>
              </a:rPr>
              <a:t>更多故事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52083" y="3794760"/>
            <a:ext cx="25676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53535"/>
                </a:solidFill>
                <a:latin typeface="Noto Sans CJK SC" pitchFamily="34" charset="0"/>
              </a:rPr>
              <a:t>更多路线与故事；外观试卖。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10274" y="4584802"/>
            <a:ext cx="2187245" cy="1008583"/>
          </a:xfrm>
          <a:prstGeom prst="roundRect">
            <a:avLst>
              <a:gd name="adj" fmla="val 9882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62649" y="4832604"/>
            <a:ext cx="423367" cy="423367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15861" y="4832604"/>
            <a:ext cx="108905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</a:rPr>
              <a:t>下一步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15861" y="5032858"/>
            <a:ext cx="108905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Noto Sans CJK SC" pitchFamily="34" charset="0"/>
              </a:rPr>
              <a:t>即将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0" y="2419502"/>
            <a:ext cx="976579" cy="976579"/>
          </a:xfrm>
          <a:prstGeom prst="ellipse">
            <a:avLst/>
          </a:prstGeom>
          <a:solidFill>
            <a:srgbClr val="576E65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05672" y="3494837"/>
            <a:ext cx="2567635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Mainnet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05672" y="3794760"/>
            <a:ext cx="25676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53535"/>
                </a:solidFill>
                <a:latin typeface="Noto Sans CJK SC" pitchFamily="34" charset="0"/>
              </a:rPr>
              <a:t>评审后才上 Mainnet。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29116" y="4584802"/>
            <a:ext cx="2187245" cy="1008583"/>
          </a:xfrm>
          <a:prstGeom prst="roundRect">
            <a:avLst>
              <a:gd name="adj" fmla="val 9882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81490" y="4832604"/>
            <a:ext cx="423367" cy="423367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34702" y="4832604"/>
            <a:ext cx="108905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</a:rPr>
              <a:t>稍后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34702" y="5032858"/>
            <a:ext cx="108905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Noto Sans CJK SC" pitchFamily="34" charset="0"/>
              </a:rPr>
              <a:t>评审后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863694" y="1104595"/>
            <a:ext cx="2197303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Noto Sans CJK SC" pitchFamily="34" charset="0"/>
              </a:rPr>
              <a:t>路线图与请求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066898" y="1304849"/>
            <a:ext cx="5789981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503A"/>
                </a:solidFill>
                <a:latin typeface="Noto Sans CJK SC" pitchFamily="34" charset="0"/>
              </a:rPr>
              <a:t>循环已上线，故事在路上</a:t>
            </a:r>
            <a:endParaRPr lang="en-US" sz="4400" dirty="0"/>
          </a:p>
        </p:txBody>
      </p:sp>
      <p:pic>
        <p:nvPicPr>
          <p:cNvPr id="45" name="Picture 44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41248" y="5833872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6C503A"/>
                </a:solidFill>
                <a:latin typeface="Noto Sans CJK SC"/>
              </a:rPr>
              <a:t>请求：请反馈情绪循环与 Solana 用面。</a:t>
            </a:r>
          </a:p>
        </p:txBody>
      </p:sp>
      <p:pic>
        <p:nvPicPr>
          <p:cNvPr id="47" name="Picture 46" descr="puddle-m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325880"/>
            <a:ext cx="731520" cy="703385"/>
          </a:xfrm>
          <a:prstGeom prst="rect">
            <a:avLst/>
          </a:prstGeom>
        </p:spPr>
      </p:pic>
      <p:pic>
        <p:nvPicPr>
          <p:cNvPr id="48" name="Picture 47" descr="moss-mo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1325880"/>
            <a:ext cx="731520" cy="6752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09798" cy="6858000"/>
          </a:xfrm>
          <a:prstGeom prst="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19680000">
            <a:off x="1434694" y="1766621"/>
            <a:ext cx="4315968" cy="3364992"/>
          </a:xfrm>
          <a:prstGeom prst="roundRect">
            <a:avLst>
              <a:gd name="adj" fmla="val 706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19680000">
            <a:off x="1507846" y="1757477"/>
            <a:ext cx="4261104" cy="3310128"/>
          </a:xfrm>
          <a:prstGeom prst="roundRect">
            <a:avLst>
              <a:gd name="adj" fmla="val 6630"/>
            </a:avLst>
          </a:prstGeom>
          <a:solidFill>
            <a:srgbClr val="11111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rot="19680000">
            <a:off x="1578254" y="1827886"/>
            <a:ext cx="4120286" cy="3169310"/>
          </a:xfrm>
          <a:prstGeom prst="roundRect">
            <a:avLst>
              <a:gd name="adj" fmla="val 4616"/>
            </a:avLst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37" name="Picture 36" descr="gift5-home-moss.png"/>
          <p:cNvPicPr>
            <a:picLocks noChangeAspect="1"/>
          </p:cNvPicPr>
          <p:nvPr/>
        </p:nvPicPr>
        <p:blipFill>
          <a:blip r:embed="rId4"/>
          <a:srcRect l="9373" r="9373"/>
          <a:stretch>
            <a:fillRect/>
          </a:stretch>
        </p:blipFill>
        <p:spPr>
          <a:xfrm rot="19680000">
            <a:off x="1578254" y="1827886"/>
            <a:ext cx="4120286" cy="316931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503566" y="1281989"/>
            <a:ext cx="2112264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Noto Sans CJK SC" pitchFamily="34" charset="0"/>
              </a:rPr>
              <a:t>谢谢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03566" y="1482242"/>
            <a:ext cx="3868826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C503A"/>
                </a:solidFill>
                <a:latin typeface="Noto Sans CJK SC" pitchFamily="34" charset="0"/>
              </a:rPr>
              <a:t>现场试试看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503566" y="23317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ans CJK SC" pitchFamily="34" charset="0"/>
              </a:rPr>
              <a:t>浏览器里领养伙伴——无需钱包。想领取上链时再连 Phantom（Devnet）。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83880" y="34290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 b="1">
                <a:solidFill>
                  <a:srgbClr val="6C503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  <a:hlinkClick r:id="rId5"/>
              </a:rPr>
              <a:t>175.178.27.231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83880" y="39776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 b="1">
                <a:solidFill>
                  <a:srgbClr val="6C503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  <a:hlinkClick r:id="rId6"/>
              </a:rPr>
              <a:t>github.com/weswes233/PixelPets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83880" y="45262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 b="1">
                <a:solidFill>
                  <a:srgbClr val="6C503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  <a:hlinkClick r:id="rId8"/>
              </a:rPr>
              <a:t>X  @wess1yan</a:t>
            </a:r>
            <a:endParaRPr lang="en-US" sz="1100" dirty="0"/>
          </a:p>
        </p:txBody>
      </p:sp>
      <p:pic>
        <p:nvPicPr>
          <p:cNvPr id="36" name="Picture 35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pic>
        <p:nvPicPr>
          <p:cNvPr id="38" name="Picture 37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374136"/>
            <a:ext cx="411480" cy="316523"/>
          </a:xfrm>
          <a:prstGeom prst="rect">
            <a:avLst/>
          </a:prstGeom>
        </p:spPr>
      </p:pic>
      <p:pic>
        <p:nvPicPr>
          <p:cNvPr id="39" name="Picture 38" descr="puddle-se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3922776"/>
            <a:ext cx="411480" cy="284871"/>
          </a:xfrm>
          <a:prstGeom prst="rect">
            <a:avLst/>
          </a:prstGeom>
        </p:spPr>
      </p:pic>
      <p:pic>
        <p:nvPicPr>
          <p:cNvPr id="40" name="Picture 39" descr="wisp-se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4471416"/>
            <a:ext cx="411480" cy="37407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503566" y="52120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76E65"/>
                </a:solidFill>
                <a:latin typeface="Noto Sans CJK SC"/>
              </a:rPr>
              <a:t>有问题吗？我可以现场带你走一遍领取上链。</a:t>
            </a:r>
          </a:p>
        </p:txBody>
      </p:sp>
      <p:pic>
        <p:nvPicPr>
          <p:cNvPr id="42" name="Picture 41" descr="moss-su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7880" y="4892040"/>
            <a:ext cx="1234440" cy="1186962"/>
          </a:xfrm>
          <a:prstGeom prst="rect">
            <a:avLst/>
          </a:prstGeom>
        </p:spPr>
      </p:pic>
      <p:sp>
        <p:nvSpPr>
          <p:cNvPr id="43" name="Rounded Rectangular Callout 42"/>
          <p:cNvSpPr/>
          <p:nvPr/>
        </p:nvSpPr>
        <p:spPr>
          <a:xfrm>
            <a:off x="5806440" y="3931920"/>
            <a:ext cx="1554480" cy="566928"/>
          </a:xfrm>
          <a:prstGeom prst="wedgeRoundRectCallout">
            <a:avLst>
              <a:gd name="adj1" fmla="val -10000"/>
              <a:gd name="adj2" fmla="val 95000"/>
              <a:gd name="adj3" fmla="val 16667"/>
            </a:avLst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先这样啦！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Cupfe Coffee</dc:title>
  <dc:subject>PptxGenJS Presentation</dc:subject>
  <dc:creator>PptxGenJS</dc:creator>
  <cp:lastModifiedBy>PptxGenJS</cp:lastModifiedBy>
  <cp:revision>1</cp:revision>
  <dcterms:created xsi:type="dcterms:W3CDTF">2026-10-11T03:54:52Z</dcterms:created>
  <dcterms:modified xsi:type="dcterms:W3CDTF">2026-10-11T03:54:52Z</dcterms:modified>
</cp:coreProperties>
</file>
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70" r:id="rId16"/>
    <p:sldId id="285" r:id="rId13"/>
    <p:sldId id="268" r:id="rId14"/>
    <p:sldId id="286" r:id="rId6"/>
    <p:sldId id="259" r:id="rId5"/>
    <p:sldId id="287" r:id="rId27"/>
    <p:sldId id="269" r:id="rId15"/>
    <p:sldId id="261" r:id="rId7"/>
    <p:sldId id="275" r:id="rId21"/>
    <p:sldId id="284" r:id="rId30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0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9.xml"/><Relationship Id="rId16" Type="http://schemas.openxmlformats.org/officeDocument/2006/relationships/slide" Target="slides/slide3.xml"/><Relationship Id="rId21" Type="http://schemas.openxmlformats.org/officeDocument/2006/relationships/slide" Target="slides/slide11.xml"/><Relationship Id="rId27" Type="http://schemas.openxmlformats.org/officeDocument/2006/relationships/slide" Target="slides/slide8.xml"/><Relationship Id="rId30" Type="http://schemas.openxmlformats.org/officeDocument/2006/relationships/slide" Target="slides/slide12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Hi, I'm Wes. This is PixelPets — a tiny companion that leaves the house for you, and comes back with a postcard you can keep, gift, and prove on Solana.</a:t>
            </a:r>
          </a:p>
          <a:p/>
          <a:p>
            <a:r>
              <a:t>Not another mint-and-flip pet. Play first. Chain when you choose.</a:t>
            </a:r>
          </a:p>
          <a:p/>
          <a:p>
            <a:r>
              <a:t>[Script 0:00–0:20 hook — docs/submission/DEMODAY-SCRIPT.md]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on-chain pets lead with speculation, confusing wallets, or empty JPEGs. Games like Travel Frog already proved the emotion: prepare, wait, surprise, show.</a:t>
            </a:r>
          </a:p>
          <a:p/>
          <a:p>
            <a:r>
              <a:t>Solana is perfect for the missing piece — ownership, journey provenance, and gifts — without putting every feed on-chain. That's why we built this for Colosseum now.</a:t>
            </a:r>
          </a:p>
          <a:p/>
          <a:p>
            <a:r>
              <a:t>[Script 0:20–0:45]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 Solana Devnet: Anchor program + Metaplex Core collection, three limited editions.</a:t>
            </a:r>
          </a:p>
          <a:p>
            <a:r>
              <a:t>- Claim writes a PetRecord.</a:t>
            </a:r>
          </a:p>
          <a:p>
            <a:r>
              <a:t>- Journey receipt stores a hash of the settled trip — public proof, independently checked.</a:t>
            </a:r>
          </a:p>
          <a:p>
            <a:r>
              <a:t>- Gift is a Core transfer the owner signs.</a:t>
            </a:r>
          </a:p>
          <a:p/>
          <a:p>
            <a:r>
              <a:t>Daily care and travel RNG stay off-chain for UX. The chain stores provenance, not every snack.</a:t>
            </a:r>
          </a:p>
          <a:p/>
          <a:p>
            <a:r>
              <a:t>Program: 2SCKfWszFZuqsjcmRbtmctHwZTgQopYmGSofoEtQm2nT — live in the repo README and Explorer.</a:t>
            </a:r>
          </a:p>
          <a:p/>
          <a:p>
            <a:r>
              <a:t>[Script 2:00–2:25]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frames to call out:</a:t>
            </a:r>
          </a:p>
          <a:p>
            <a:r>
              <a:t>- "Here is a real Phantom on Devnet."</a:t>
            </a:r>
          </a:p>
          <a:p>
            <a:r>
              <a:t>- Claim: "Co-signed claim — you see network, asset, fee."</a:t>
            </a:r>
          </a:p>
          <a:p>
            <a:r>
              <a:t>- Receipt: "Checkpoint v2 journey receipt — settled trip hashed on-chain."</a:t>
            </a:r>
          </a:p>
          <a:p>
            <a:r>
              <a:t>- Gift: "Owner-signed transfer; the friend syncs and keeps caring."</a:t>
            </a:r>
          </a:p>
          <a:p>
            <a:r>
              <a:t>(Bonus) We already ran gift sync + feed with a second wallet.</a:t>
            </a:r>
          </a:p>
          <a:p/>
          <a:p>
            <a:r>
              <a:t>[Script 1:15–2:00]  Screens: docs/evidence/phantom-p0-2026-10-10/screens/ (v3-01…v3-07, gift5-synced, gift5-feed)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Devnet only today — no cash value. No project token by design.</a:t>
            </a:r>
          </a:p>
          <a:p/>
          <a:p>
            <a:r>
              <a:t>Later: fixed cosmetics and theme packs players can preview — not emissions, not a casino wrapped as a pet. If players only ask "wen token," we fix the toy, we don't print a chart.</a:t>
            </a:r>
          </a:p>
          <a:p/>
          <a:p>
            <a:r>
              <a:t>[Script 2:25–2:45]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 from the live build (docs/evidence/ui-smoke): travel, away, postcard, album, Chinese UI.</a:t>
            </a:r>
          </a:p>
          <a:p/>
          <a:p>
            <a:r>
              <a:t>3. Travel — pack a bag, pick a place. Demo trips are labelled accelerated.</a:t>
            </a:r>
          </a:p>
          <a:p>
            <a:r>
              <a:t>4. Return — a story postcard, maybe a keepsake in your Album.</a:t>
            </a:r>
          </a:p>
          <a:p/>
          <a:p>
            <a:r>
              <a:t>Emotion order: prepare → wait → surprise → show → share.</a:t>
            </a:r>
          </a:p>
          <a:p/>
          <a:p>
            <a:r>
              <a:t>[Script 0:45–1:15, player loop]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Option A — play the product demo video (recommended): https://github.com/weswes233/PixelPets/releases/download/demo-videos-2026-10-10/PixelPets-product-demo-en-v5.mp4</a:t>
            </a:r>
          </a:p>
          <a:p>
            <a:r>
              <a:t>- "Here is a real Phantom on Devnet."</a:t>
            </a:r>
          </a:p>
          <a:p>
            <a:r>
              <a:t>- Claim popup: "Co-signed claim — you see network, asset, fee."</a:t>
            </a:r>
          </a:p>
          <a:p>
            <a:r>
              <a:t>- Receipt confirmed: "Checkpoint v2 journey receipt — settled trip hashed on-chain."</a:t>
            </a:r>
          </a:p>
          <a:p>
            <a:r>
              <a:t>- Gift success: "Owner-signed transfer; the friend syncs and keeps caring."</a:t>
            </a:r>
          </a:p>
          <a:p/>
          <a:p>
            <a:r>
              <a:t>Option B — live at https://175.178.27.231/ (accept the self-signed certificate): Adopt / open Moss → Care → Connect Phantom → Claim → Save journey receipt → open Explorer.</a:t>
            </a:r>
          </a:p>
          <a:p/>
          <a:p>
            <a:r>
              <a:t>[Script 1:15–2:00]  Images: docs/evidence/phantom-p0-2026-10-10/screens/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another mint-and-flip pet. Play first. Chain when you choose.</a:t>
            </a:r>
          </a:p>
          <a:p/>
          <a:p>
            <a:r>
              <a:t>Games like Travel Frog already proved the emotion: prepare, wait, surprise, show. We keep that, add ownership and gifts, and leave out daily feeds on-chain, token emissions and speculative breeding.</a:t>
            </a:r>
          </a:p>
          <a:p/>
          <a:p>
            <a:r>
              <a:t>Q&amp;A — Why no token? Emotion retention first; cosmetics later if unpaid players stick.</a:t>
            </a:r>
          </a:p>
          <a:p/>
          <a:p>
            <a:r>
              <a:t>[Script hook + 0:20–0:45; Q&amp;A prep]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loop is five steps:</a:t>
            </a:r>
          </a:p>
          <a:p>
            <a:r>
              <a:t>1. Adopt Moss, Puddle, or Wisp — free, no wallet.</a:t>
            </a:r>
          </a:p>
          <a:p>
            <a:r>
              <a:t>2. Care on soft timers; pets never die from neglect.</a:t>
            </a:r>
          </a:p>
          <a:p>
            <a:r>
              <a:t>3. Travel — pack a bag, pick a place. Demo trips are labelled accelerated.</a:t>
            </a:r>
          </a:p>
          <a:p>
            <a:r>
              <a:t>4. Return — a story postcard, maybe a keepsake in your Album.</a:t>
            </a:r>
          </a:p>
          <a:p>
            <a:r>
              <a:t>5. Optional chain — claim a Metaplex Core companion, save a journey receipt, gift to a friend.</a:t>
            </a:r>
          </a:p>
          <a:p/>
          <a:p>
            <a:r>
              <a:t>Emotion order: prepare → wait → surprise → show → share.</a:t>
            </a:r>
          </a:p>
          <a:p/>
          <a:p>
            <a:r>
              <a:t>[Script 0:45–1:15]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We're asking judges for feedback on the emotion loop and the Solana surface area — not whether the tokenomics are aggressive enough.</a:t>
            </a:r>
          </a:p>
          <a:p/>
          <a:p>
            <a:r>
              <a:t>Q&amp;A — Why Devnet? Ship an honest play-first loop this weekend; mainnet after review.</a:t>
            </a:r>
          </a:p>
          <a:p/>
          <a:p>
            <a:r>
              <a:t>[Script 2:45–3:00 ask; Q&amp;A prep]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Daily care and travel RNG stay off-chain for UX. The chain stores provenance, not every snack.</a:t>
            </a:r>
          </a:p>
          <a:p/>
          <a:p>
            <a:r>
              <a:t>Q&amp;A — Is travel RNG fair? Server settles the trip; chain stores the hash + public proof id.</a:t>
            </a:r>
          </a:p>
          <a:p>
            <a:r>
              <a:t>Q&amp;A — Mobile? Godot Web today; mobile later if retention proves out.</a:t>
            </a:r>
          </a:p>
          <a:p/>
          <a:p>
            <a:r>
              <a:t>[Script 2:00–2:25 and Q&amp;A prep]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demo: https://175.178.27.231/</a:t>
            </a:r>
          </a:p>
          <a:p>
            <a:r>
              <a:t>Repo: github.com/weswes233/PixelPets — default branch is the hackathon build.</a:t>
            </a:r>
          </a:p>
          <a:p>
            <a:r>
              <a:t>X: @wess1yan</a:t>
            </a:r>
          </a:p>
          <a:p/>
          <a:p>
            <a:r>
              <a:t>We're asking judges for feedback on the emotion loop and the Solana surface area — not whether the tokenomics are aggressive enough.</a:t>
            </a:r>
          </a:p>
          <a:p/>
          <a:p>
            <a:r>
              <a:t>Thanks — happy to take questions, or walk you through a claim live.</a:t>
            </a:r>
          </a:p>
          <a:p/>
          <a:p>
            <a:r>
              <a:t>[Script 2:45–3:00]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hyperlink" Target="https://175.178.27.231/" TargetMode="External"/><Relationship Id="rId8" Type="http://schemas.openxmlformats.org/officeDocument/2006/relationships/hyperlink" Target="https://github.com/weswes233/PixelPets/releases/download/demo-videos-2026-10-10/PixelPets-product-demo-en-v5.mp4" TargetMode="External"/><Relationship Id="rId9" Type="http://schemas.openxmlformats.org/officeDocument/2006/relationships/image" Target="../media/image3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hyperlink" Target="https://175.178.27.231/" TargetMode="External"/><Relationship Id="rId6" Type="http://schemas.openxmlformats.org/officeDocument/2006/relationships/hyperlink" Target="https://github.com/weswes233/PixelPets" TargetMode="External"/><Relationship Id="rId7" Type="http://schemas.openxmlformats.org/officeDocument/2006/relationships/image" Target="../media/image6.png"/><Relationship Id="rId8" Type="http://schemas.openxmlformats.org/officeDocument/2006/relationships/hyperlink" Target="https://x.com/wess1yan" TargetMode="External"/><Relationship Id="rId9" Type="http://schemas.openxmlformats.org/officeDocument/2006/relationships/image" Target="../media/image7.png"/><Relationship Id="rId10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>
              <a:alpha val="93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07631" y="1310335"/>
            <a:ext cx="4269334" cy="4269334"/>
          </a:xfrm>
          <a:prstGeom prst="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7" name="Picture 26" descr="cover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07631" y="1310335"/>
            <a:ext cx="4269334" cy="4269334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114300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PixelPets</a:t>
            </a:r>
            <a:endParaRPr lang="en-US" sz="21000" dirty="0"/>
          </a:p>
        </p:txBody>
      </p:sp>
      <p:sp>
        <p:nvSpPr>
          <p:cNvPr id="21" name="Text 19"/>
          <p:cNvSpPr/>
          <p:nvPr/>
        </p:nvSpPr>
        <p:spPr>
          <a:xfrm>
            <a:off x="914400" y="288036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Play first.</a:t>
            </a:r>
            <a:endParaRPr lang="en-US" sz="14000" dirty="0"/>
          </a:p>
        </p:txBody>
      </p:sp>
      <p:sp>
        <p:nvSpPr>
          <p:cNvPr id="22" name="Shape 20"/>
          <p:cNvSpPr/>
          <p:nvPr/>
        </p:nvSpPr>
        <p:spPr>
          <a:xfrm>
            <a:off x="7233818" y="1074420"/>
            <a:ext cx="293522" cy="293522"/>
          </a:xfrm>
          <a:prstGeom prst="donut">
            <a:avLst/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03890" y="5522976"/>
            <a:ext cx="293522" cy="293522"/>
          </a:xfrm>
          <a:prstGeom prst="donut">
            <a:avLst/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63986" y="1236269"/>
            <a:ext cx="459029" cy="459029"/>
          </a:xfrm>
          <a:prstGeom prst="donut">
            <a:avLst/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51522" y="5201107"/>
            <a:ext cx="459029" cy="459029"/>
          </a:xfrm>
          <a:prstGeom prst="donut">
            <a:avLst/>
          </a:prstGeom>
          <a:solidFill>
            <a:srgbClr val="576E65"/>
          </a:solidFill>
          <a:ln/>
        </p:spPr>
        <p:txBody>
          <a:bodyPr/>
          <a:p/>
        </p:txBody>
      </p:sp>
      <p:pic>
        <p:nvPicPr>
          <p:cNvPr id="26" name="Picture 2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1832" y="4114800"/>
            <a:ext cx="5760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6C503A"/>
                </a:solidFill>
                <a:latin typeface="Work Sans"/>
              </a:rPr>
              <a:t>A tiny companion that leaves the house for you.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512064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6E65"/>
                </a:solidFill>
                <a:latin typeface="Work Sans"/>
              </a:rPr>
              <a:t>Chain when you choose.   ·   Wes   ·   Colosseum Demo Day</a:t>
            </a:r>
          </a:p>
        </p:txBody>
      </p:sp>
      <p:pic>
        <p:nvPicPr>
          <p:cNvPr id="30" name="Picture 29" descr="puddle-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983480"/>
            <a:ext cx="868680" cy="868680"/>
          </a:xfrm>
          <a:prstGeom prst="rect">
            <a:avLst/>
          </a:prstGeom>
        </p:spPr>
      </p:pic>
      <p:pic>
        <p:nvPicPr>
          <p:cNvPr id="31" name="Picture 30" descr="wisp-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4343400"/>
            <a:ext cx="777240" cy="883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95705"/>
            <a:ext cx="5372100" cy="4286707"/>
          </a:xfrm>
          <a:prstGeom prst="roundRect">
            <a:avLst>
              <a:gd name="adj" fmla="val 778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29" name="Picture 28" descr="problem.png"/>
          <p:cNvPicPr>
            <a:picLocks noChangeAspect="1"/>
          </p:cNvPicPr>
          <p:nvPr/>
        </p:nvPicPr>
        <p:blipFill>
          <a:blip r:embed="rId4"/>
          <a:srcRect l="5" r="5"/>
          <a:stretch>
            <a:fillRect/>
          </a:stretch>
        </p:blipFill>
        <p:spPr>
          <a:xfrm>
            <a:off x="0" y="1295705"/>
            <a:ext cx="5372100" cy="4286707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1295705"/>
            <a:ext cx="333756" cy="4286707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24167" y="1459382"/>
            <a:ext cx="2215591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24167" y="164592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Chain pets lead with hype, not heart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824167" y="3108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Most on-chain pets lead with speculation, confusing wallets and empty JPEGs.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24167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76E6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Travel Frog proved the emotion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24167" y="4370832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Prepare → wait → surprise → show. Solana adds the missing piece — ownership, provenance and gifts — without putting every feed on-chain.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19118" y="4231843"/>
            <a:ext cx="2179015" cy="2179015"/>
          </a:xfrm>
          <a:prstGeom prst="roundRect">
            <a:avLst>
              <a:gd name="adj" fmla="val 7805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050792" y="464515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 beats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050792" y="51755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prepare · wait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surprise · show</a:t>
            </a:r>
            <a:endParaRPr lang="en-US" sz="1000" dirty="0"/>
          </a:p>
        </p:txBody>
      </p:sp>
      <p:pic>
        <p:nvPicPr>
          <p:cNvPr id="28" name="Picture 27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30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the player loop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Five steps, one cozy loop</a:t>
            </a:r>
            <a:endParaRPr lang="en-US" sz="4400" dirty="0"/>
          </a:p>
        </p:txBody>
      </p:sp>
      <p:pic>
        <p:nvPicPr>
          <p:cNvPr id="43" name="Picture 4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50392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3272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Adopt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3272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Work Sans"/>
              </a:rPr>
              <a:t>Moss, Puddle or Wisp. Free, no wallet.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734056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017520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0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Care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Work Sans"/>
              </a:rPr>
              <a:t>Soft timers. Pets never die from neglect.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901184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184648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67528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8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Travel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8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Work Sans"/>
              </a:rPr>
              <a:t>Pack a bag, pick a place, wait for news.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7068312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51776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34656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Work Sans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34656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Work Sans"/>
              </a:rPr>
              <a:t>Postcard + Album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34656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Work Sans"/>
              </a:rPr>
              <a:t>A story postcard and keepsakes to collect.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9235440" y="3602736"/>
            <a:ext cx="228600" cy="292608"/>
          </a:xfrm>
          <a:prstGeom prst="rightArrow">
            <a:avLst/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18904" y="260604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EADDBD"/>
          </a:solidFill>
          <a:ln w="15875">
            <a:solidFill>
              <a:srgbClr val="6C50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01784" y="2788920"/>
            <a:ext cx="1463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C503A"/>
                </a:solidFill>
                <a:latin typeface="Work Sans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01784" y="329184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C503A"/>
                </a:solidFill>
                <a:latin typeface="Work Sans"/>
              </a:rPr>
              <a:t>Optional chain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01784" y="3675888"/>
            <a:ext cx="1463040" cy="11064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53535"/>
                </a:solidFill>
                <a:latin typeface="Work Sans"/>
              </a:rPr>
              <a:t>Claim, journey receipt, gift — when you choose.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266176" y="4892040"/>
            <a:ext cx="0" cy="365760"/>
          </a:xfrm>
          <a:prstGeom prst="line">
            <a:avLst/>
          </a:prstGeom>
          <a:ln w="25400">
            <a:solidFill>
              <a:srgbClr val="576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3931920" y="5257800"/>
            <a:ext cx="4334256" cy="0"/>
          </a:xfrm>
          <a:prstGeom prst="line">
            <a:avLst/>
          </a:prstGeom>
          <a:ln w="25400">
            <a:solidFill>
              <a:srgbClr val="576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931920" y="4919472"/>
            <a:ext cx="0" cy="338328"/>
          </a:xfrm>
          <a:prstGeom prst="line">
            <a:avLst/>
          </a:prstGeom>
          <a:ln w="25400">
            <a:solidFill>
              <a:srgbClr val="576E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06240" y="5312664"/>
            <a:ext cx="37856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76E65"/>
                </a:solidFill>
                <a:latin typeface="Work Sans"/>
              </a:rPr>
              <a:t>back home → care → the next trip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" y="5897880"/>
            <a:ext cx="104973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6C503A"/>
                </a:solidFill>
                <a:latin typeface="Work Sans"/>
              </a:rPr>
              <a:t>Emotion order: prepare → wait → surprise → show → share</a:t>
            </a:r>
          </a:p>
        </p:txBody>
      </p:sp>
      <p:pic>
        <p:nvPicPr>
          <p:cNvPr id="73" name="Picture 7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512" y="2002536"/>
            <a:ext cx="713232" cy="548640"/>
          </a:xfrm>
          <a:prstGeom prst="rect">
            <a:avLst/>
          </a:prstGeom>
        </p:spPr>
      </p:pic>
      <p:pic>
        <p:nvPicPr>
          <p:cNvPr id="74" name="Picture 73" descr="puddle-s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896" y="1984248"/>
            <a:ext cx="713232" cy="493776"/>
          </a:xfrm>
          <a:prstGeom prst="rect">
            <a:avLst/>
          </a:prstGeom>
        </p:spPr>
      </p:pic>
      <p:pic>
        <p:nvPicPr>
          <p:cNvPr id="75" name="Picture 74" descr="wisp-s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4744" y="1947672"/>
            <a:ext cx="640080" cy="581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 rot="16200000">
            <a:off x="-1033272" y="2705710"/>
            <a:ext cx="3945636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ADDBD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SCREENS</a:t>
            </a:r>
            <a:endParaRPr lang="en-US" sz="8800" dirty="0"/>
          </a:p>
        </p:txBody>
      </p:sp>
      <p:pic>
        <p:nvPicPr>
          <p:cNvPr id="45" name="Picture 44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377440" y="7132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19566"/>
                </a:solidFill>
                <a:latin typeface="Sacramento"/>
              </a:rPr>
              <a:t>real product screens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987552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C503A"/>
                </a:solidFill>
                <a:latin typeface="Barlow Condensed SemiBold"/>
              </a:rPr>
              <a:t>Every beat is already playable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04288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06-travel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377440" y="1810512"/>
            <a:ext cx="1225999" cy="379476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103120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Work Sans"/>
              </a:rPr>
              <a:t>Travel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078927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07-away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52079" y="1810512"/>
            <a:ext cx="1225999" cy="379476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77759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Work Sans"/>
              </a:rPr>
              <a:t>Away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53567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09-postcar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5926719" y="1810512"/>
            <a:ext cx="1225999" cy="379476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652399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Work Sans"/>
              </a:rPr>
              <a:t>Postcard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28206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13-album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701358" y="1810512"/>
            <a:ext cx="1225999" cy="379476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27038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Work Sans"/>
              </a:rPr>
              <a:t>Album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02846" y="1737360"/>
            <a:ext cx="1372303" cy="3941064"/>
          </a:xfrm>
          <a:prstGeom prst="roundRect">
            <a:avLst>
              <a:gd name="adj" fmla="val 6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14-zh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475998" y="1810512"/>
            <a:ext cx="1225999" cy="37947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201678" y="5769864"/>
            <a:ext cx="1774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C503A"/>
                </a:solidFill>
                <a:latin typeface="Work Sans"/>
              </a:rPr>
              <a:t>Chinese UI</a:t>
            </a:r>
          </a:p>
        </p:txBody>
      </p:sp>
      <p:pic>
        <p:nvPicPr>
          <p:cNvPr id="63" name="Picture 62" descr="wisp-s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200" y="4800600"/>
            <a:ext cx="868680" cy="987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 rot="16200000">
            <a:off x="-1669694" y="2874874"/>
            <a:ext cx="5219395" cy="11082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ADDBD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DEMO</a:t>
            </a:r>
            <a:endParaRPr lang="en-US" sz="6600" dirty="0"/>
          </a:p>
        </p:txBody>
      </p:sp>
      <p:pic>
        <p:nvPicPr>
          <p:cNvPr id="22" name="Picture 21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773936" y="71323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19566"/>
                </a:solidFill>
                <a:latin typeface="Sacramento"/>
              </a:rPr>
              <a:t>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987552"/>
            <a:ext cx="8686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C503A"/>
                </a:solidFill>
                <a:latin typeface="Barlow Condensed SemiBold"/>
              </a:rPr>
              <a:t>Real Phantom, real Devnet, live today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17243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v3-04-phantom-confi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107" y="1849051"/>
            <a:ext cx="3010205" cy="184316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717243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0123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Work Sans"/>
              </a:rPr>
              <a:t>1  Claim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0123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Co-signed Metaplex Core companion — you see network, asset, fee.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98441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3-08-receipt-confir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305" y="1829943"/>
            <a:ext cx="3010205" cy="188137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898441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1321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Work Sans"/>
              </a:rPr>
              <a:t>2  Journey receipt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1321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Checkpoint v2 receipt: the settled trip, hashed on-chain.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9638" y="1773936"/>
            <a:ext cx="3119933" cy="1993392"/>
          </a:xfrm>
          <a:prstGeom prst="roundRect">
            <a:avLst>
              <a:gd name="adj" fmla="val 4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ift4-07-gift-confir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1829943"/>
            <a:ext cx="3010205" cy="1881378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079638" y="3913632"/>
            <a:ext cx="3119933" cy="1188720"/>
          </a:xfrm>
          <a:prstGeom prst="roundRect">
            <a:avLst>
              <a:gd name="adj" fmla="val 8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62518" y="4096512"/>
            <a:ext cx="275417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Work Sans"/>
              </a:rPr>
              <a:t>3  Gift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2518" y="4480560"/>
            <a:ext cx="275417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Owner-signed transfer; the friend syncs and keeps caring.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3936" y="5303520"/>
            <a:ext cx="9418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503A"/>
                </a:solidFill>
                <a:latin typeface="Work Sans"/>
                <a:hlinkClick r:id="rId7"/>
              </a:rPr>
              <a:t>Live:  https://175.178.27.231/   ·   real Phantom on Solana Devnet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73936" y="5687568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76E65"/>
                </a:solidFill>
                <a:latin typeface="Work Sans"/>
                <a:hlinkClick r:id="rId8"/>
              </a:rPr>
              <a:t>Demo video:  github.com/weswes233/PixelPets/releases/download/demo-videos-2026-10-10/PixelPets-product-demo-en-v5.mp4</a:t>
            </a:r>
          </a:p>
        </p:txBody>
      </p:sp>
      <p:pic>
        <p:nvPicPr>
          <p:cNvPr id="42" name="Picture 41" descr="puddle-su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0" y="86868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3960266" cy="2453335"/>
          </a:xfrm>
          <a:prstGeom prst="round1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5" name="Picture 34" descr="v3-01-siws-confirm.png"/>
          <p:cNvPicPr>
            <a:picLocks noChangeAspect="1"/>
          </p:cNvPicPr>
          <p:nvPr/>
        </p:nvPicPr>
        <p:blipFill>
          <a:blip r:embed="rId3"/>
          <a:srcRect l="580" r="580"/>
          <a:stretch>
            <a:fillRect/>
          </a:stretch>
        </p:blipFill>
        <p:spPr>
          <a:xfrm>
            <a:off x="0" y="0"/>
            <a:ext cx="3960266" cy="2453335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 flipV="1">
            <a:off x="4115714" y="0"/>
            <a:ext cx="3960266" cy="2453335"/>
          </a:xfrm>
          <a:prstGeom prst="round2Same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8" name="Picture 37" descr="v3-02-wallet-connected.png"/>
          <p:cNvPicPr>
            <a:picLocks noChangeAspect="1"/>
          </p:cNvPicPr>
          <p:nvPr/>
        </p:nvPicPr>
        <p:blipFill>
          <a:blip r:embed="rId4"/>
          <a:srcRect l="3181" r="3181"/>
          <a:stretch>
            <a:fillRect/>
          </a:stretch>
        </p:blipFill>
        <p:spPr>
          <a:xfrm>
            <a:off x="4115714" y="0"/>
            <a:ext cx="3960266" cy="2453335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 flipH="1" flipV="1">
            <a:off x="8232343" y="0"/>
            <a:ext cx="3960266" cy="2453335"/>
          </a:xfrm>
          <a:prstGeom prst="round1Rect">
            <a:avLst/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41" name="Picture 40" descr="v3-03-claim-review.png"/>
          <p:cNvPicPr>
            <a:picLocks noChangeAspect="1"/>
          </p:cNvPicPr>
          <p:nvPr/>
        </p:nvPicPr>
        <p:blipFill>
          <a:blip r:embed="rId5"/>
          <a:srcRect l="3181" r="3181"/>
          <a:stretch>
            <a:fillRect/>
          </a:stretch>
        </p:blipFill>
        <p:spPr>
          <a:xfrm>
            <a:off x="8232343" y="0"/>
            <a:ext cx="3960266" cy="2453335"/>
          </a:xfrm>
          <a:prstGeom prst="rect">
            <a:avLst/>
          </a:prstGeom>
        </p:spPr>
      </p:pic>
      <p:sp>
        <p:nvSpPr>
          <p:cNvPr id="18" name="Shape 16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651760" y="2606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Real transactions on Devnet</a:t>
            </a:r>
            <a:endParaRPr lang="en-US" sz="4400" dirty="0"/>
          </a:p>
        </p:txBody>
      </p:sp>
      <p:sp>
        <p:nvSpPr>
          <p:cNvPr id="36" name="Rounded Rectangle 35"/>
          <p:cNvSpPr/>
          <p:nvPr/>
        </p:nvSpPr>
        <p:spPr>
          <a:xfrm>
            <a:off x="164592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Work Sans"/>
              </a:rPr>
              <a:t>1  Sign in with Solana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80306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90034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Work Sans"/>
              </a:rPr>
              <a:t>2  Wallet connected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96935" y="2011680"/>
            <a:ext cx="2514600" cy="329184"/>
          </a:xfrm>
          <a:prstGeom prst="roundRect">
            <a:avLst>
              <a:gd name="adj" fmla="val 3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6663" y="2011680"/>
            <a:ext cx="2377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Work Sans"/>
              </a:rPr>
              <a:t>3  Review the claim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516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v3-05-claimed-on-devn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8" y="3566160"/>
            <a:ext cx="2011680" cy="12573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944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4  Claimed on Devnet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4972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v3-06-journey-receipt-read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448" y="3611344"/>
            <a:ext cx="2011680" cy="11669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80400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5  Receipt ready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4428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v3-07-phantom-receipt-confi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0008" y="3578929"/>
            <a:ext cx="2011680" cy="123176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9856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6  Sign the receipt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3884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gift5-sync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4568" y="3566160"/>
            <a:ext cx="2011680" cy="12573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19312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7  Friend's wallet syncs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33408" y="3520440"/>
            <a:ext cx="2103120" cy="1348740"/>
          </a:xfrm>
          <a:prstGeom prst="roundRect">
            <a:avLst>
              <a:gd name="adj" fmla="val 5000"/>
            </a:avLst>
          </a:prstGeom>
          <a:solidFill>
            <a:srgbClr val="EAD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gift5-fe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128" y="3566160"/>
            <a:ext cx="2011680" cy="12573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7688" y="4983480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8  Friend keeps caring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715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76E65"/>
                </a:solidFill>
                <a:latin typeface="Work Sans"/>
              </a:rPr>
              <a:t>Every step is a real Phantom signature on Solana Devnet — QA run of Oct 10, 2026. Gift ran end to end with a second wallet.</a:t>
            </a:r>
          </a:p>
        </p:txBody>
      </p:sp>
      <p:pic>
        <p:nvPicPr>
          <p:cNvPr id="60" name="Picture 59" descr="moss-su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6920" y="2578608"/>
            <a:ext cx="731520" cy="703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4866" y="3862426"/>
            <a:ext cx="4540910" cy="1726387"/>
          </a:xfrm>
          <a:prstGeom prst="roundRect">
            <a:avLst>
              <a:gd name="adj" fmla="val 778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7" name="Picture 36" descr="solana.png"/>
          <p:cNvPicPr>
            <a:picLocks noChangeAspect="1"/>
          </p:cNvPicPr>
          <p:nvPr/>
        </p:nvPicPr>
        <p:blipFill>
          <a:blip r:embed="rId4"/>
          <a:srcRect t="101" b="101"/>
          <a:stretch>
            <a:fillRect/>
          </a:stretch>
        </p:blipFill>
        <p:spPr>
          <a:xfrm>
            <a:off x="6474866" y="3862426"/>
            <a:ext cx="4540910" cy="1726387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88136" y="1281989"/>
            <a:ext cx="2073859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on-chain, on purpose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88136" y="1481328"/>
            <a:ext cx="512064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What lives on Solana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1088136" y="22860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Anchor program + Metaplex Core collection on Devnet. Daily care and travel RNG stay off-chain — the chain stores provenance, not every snack.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91463" y="3429000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534363" y="3862426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01.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34363" y="4387291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Claim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34363" y="4642409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Metaplex Core companion, co-signed.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72561" y="3429000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915461" y="3862426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02.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3915461" y="4387291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PetRecord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15461" y="4642409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Written on claim; stores checkpoint hashes.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4866" y="1296619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817766" y="1730045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03.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817766" y="225491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Journey receipt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7766" y="251002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Checkpoint v2: settled trip hashed, public proof verified.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56878" y="1296619"/>
            <a:ext cx="2159813" cy="2159813"/>
          </a:xfrm>
          <a:prstGeom prst="roundRect">
            <a:avLst>
              <a:gd name="adj" fmla="val 7790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99778" y="1730045"/>
            <a:ext cx="95920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04.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9199778" y="225491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Gift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99778" y="2510028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Owner-signed Core transfer; recipient syncs &amp; keeps caring.</a:t>
            </a:r>
            <a:endParaRPr lang="en-US" sz="1050" dirty="0"/>
          </a:p>
        </p:txBody>
      </p:sp>
      <p:pic>
        <p:nvPicPr>
          <p:cNvPr id="36" name="Picture 3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88136" y="585216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76E65"/>
                </a:solidFill>
                <a:latin typeface="Work Sans"/>
              </a:rPr>
              <a:t>Program  </a:t>
            </a:r>
            <a:r>
              <a:rPr sz="1400" b="1">
                <a:solidFill>
                  <a:srgbClr val="6C503A"/>
                </a:solidFill>
                <a:latin typeface="Work Sans"/>
              </a:rPr>
              <a:t>2SCKfWszFZuqsjcmRbtmctHwZTgQopYmGSofoEtQm2nT</a:t>
            </a:r>
            <a:r>
              <a:rPr sz="1400" b="0">
                <a:solidFill>
                  <a:srgbClr val="353535"/>
                </a:solidFill>
                <a:latin typeface="Work Sans"/>
              </a:rPr>
              <a:t>   ·   Solana Devnet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31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architecture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984248" y="1304849"/>
            <a:ext cx="8229600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Care off-chain, proof on-chain</a:t>
            </a:r>
            <a:endParaRPr lang="en-US" sz="4400" dirty="0"/>
          </a:p>
        </p:txBody>
      </p:sp>
      <p:pic>
        <p:nvPicPr>
          <p:cNvPr id="44" name="Picture 43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22960" y="251460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6C5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267004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Godot Web client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01752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Adopt, care, travel and album — right in the browser.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2514600"/>
            <a:ext cx="2651760" cy="1463040"/>
          </a:xfrm>
          <a:prstGeom prst="roundRect">
            <a:avLst>
              <a:gd name="adj" fmla="val 10000"/>
            </a:avLst>
          </a:prstGeom>
          <a:solidFill>
            <a:srgbClr val="576E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267004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Node + SQLite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017520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Care timers, travel RNG; settles each trip.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98080" y="2286000"/>
            <a:ext cx="3840480" cy="329184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D195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237744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D19566"/>
                </a:solidFill>
                <a:latin typeface="Work Sans"/>
              </a:rPr>
              <a:t>Solana Devnet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26680" y="274320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9560" y="28986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Anchor program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3246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PetRecord + checkpoint v2 journey receipts.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26680" y="388620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B794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09560" y="404164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Work Sans"/>
              </a:rPr>
              <a:t>Metaplex Core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43891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Work Sans"/>
              </a:rPr>
              <a:t>Companion asset; owner-signed transfers.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" y="4617720"/>
            <a:ext cx="26517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6C5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" y="477316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C503A"/>
                </a:solidFill>
                <a:latin typeface="Work Sans"/>
              </a:rPr>
              <a:t>Phantom wallet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" y="51206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53535"/>
                </a:solidFill>
                <a:latin typeface="Work Sans"/>
              </a:rPr>
              <a:t>The player signs, only when they choose.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520440" y="3246120"/>
            <a:ext cx="64008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474720" y="28803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6C503A"/>
                </a:solidFill>
                <a:latin typeface="Work Sans"/>
              </a:rPr>
              <a:t>API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903720" y="3246120"/>
            <a:ext cx="77724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812280" y="333756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6C503A"/>
                </a:solidFill>
                <a:latin typeface="Work Sans"/>
              </a:rPr>
              <a:t>co-sign</a:t>
            </a:r>
          </a:p>
          <a:p>
            <a:pPr algn="ctr"/>
            <a:r>
              <a:rPr sz="1050" b="1" i="0">
                <a:solidFill>
                  <a:srgbClr val="6C503A"/>
                </a:solidFill>
                <a:latin typeface="Work Sans"/>
              </a:rPr>
              <a:t>trip hash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2148840" y="4023360"/>
            <a:ext cx="0" cy="54864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286000" y="4160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C503A"/>
                </a:solidFill>
                <a:latin typeface="Work Sans"/>
              </a:rPr>
              <a:t>connect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520440" y="5257800"/>
            <a:ext cx="4160520" cy="0"/>
          </a:xfrm>
          <a:prstGeom prst="line">
            <a:avLst/>
          </a:prstGeom>
          <a:ln w="25400">
            <a:solidFill>
              <a:srgbClr val="6C5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657600" y="4919472"/>
            <a:ext cx="3840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6C503A"/>
                </a:solidFill>
                <a:latin typeface="Work Sans"/>
              </a:rPr>
              <a:t>signs claim · receipt · gift</a:t>
            </a:r>
          </a:p>
        </p:txBody>
      </p:sp>
      <p:pic>
        <p:nvPicPr>
          <p:cNvPr id="70" name="Picture 69" descr="wisp-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4956048"/>
            <a:ext cx="502920" cy="548640"/>
          </a:xfrm>
          <a:prstGeom prst="rect">
            <a:avLst/>
          </a:prstGeom>
        </p:spPr>
      </p:pic>
      <p:pic>
        <p:nvPicPr>
          <p:cNvPr id="71" name="Picture 70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38528"/>
            <a:ext cx="658368" cy="50643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576E65"/>
                </a:solidFill>
                <a:latin typeface="Work Sans"/>
              </a:rPr>
              <a:t>Off-chain for UX: daily care + travel RNG.   On-chain for trust: identity, provenance, gifts.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46581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446581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75181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Travel Frog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20901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TAKE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Offline hope + souvenirs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LEAVE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Nothing to chain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0133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20133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948733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Typical NFT pet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94453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TAKE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Ownership + gifts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LEAVE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Daily feeds on-chain &amp; token emissions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92770" y="2441448"/>
            <a:ext cx="2752344" cy="3088843"/>
          </a:xfrm>
          <a:prstGeom prst="roundRect">
            <a:avLst>
              <a:gd name="adj" fmla="val 8206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684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992770" y="2820924"/>
            <a:ext cx="2752344" cy="63276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1370" y="2937967"/>
            <a:ext cx="22860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Axie-style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267090" y="3639312"/>
            <a:ext cx="2240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TAKE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Bond + evolving forms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 b="1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 LEAVE</a:t>
            </a:r>
            <a:endParaRPr lang="en-US" sz="10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Speculative breeding on day one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differentiation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What we take, what we leave</a:t>
            </a:r>
            <a:endParaRPr lang="en-US" sz="4400" dirty="0"/>
          </a:p>
        </p:txBody>
      </p:sp>
      <p:pic>
        <p:nvPicPr>
          <p:cNvPr id="32" name="Picture 31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pic>
        <p:nvPicPr>
          <p:cNvPr id="33" name="Picture 32" descr="moss-s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525" y="1938528"/>
            <a:ext cx="731520" cy="703385"/>
          </a:xfrm>
          <a:prstGeom prst="rect">
            <a:avLst/>
          </a:prstGeom>
        </p:spPr>
      </p:pic>
      <p:pic>
        <p:nvPicPr>
          <p:cNvPr id="34" name="Picture 33" descr="puddle-s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1938528"/>
            <a:ext cx="731520" cy="731520"/>
          </a:xfrm>
          <a:prstGeom prst="rect">
            <a:avLst/>
          </a:prstGeom>
        </p:spPr>
      </p:pic>
      <p:pic>
        <p:nvPicPr>
          <p:cNvPr id="35" name="Picture 34" descr="wisp-s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0714" y="1938528"/>
            <a:ext cx="731520" cy="831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7105" y="1295705"/>
            <a:ext cx="4304995" cy="5562295"/>
          </a:xfrm>
          <a:prstGeom prst="round2SameRect">
            <a:avLst>
              <a:gd name="adj" fmla="val 9579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4" name="Picture 33" descr="business.png"/>
          <p:cNvPicPr>
            <a:picLocks noChangeAspect="1"/>
          </p:cNvPicPr>
          <p:nvPr/>
        </p:nvPicPr>
        <p:blipFill>
          <a:blip r:embed="rId4"/>
          <a:srcRect l="387" r="387"/>
          <a:stretch>
            <a:fillRect/>
          </a:stretch>
        </p:blipFill>
        <p:spPr>
          <a:xfrm>
            <a:off x="1067105" y="1295705"/>
            <a:ext cx="4304995" cy="5562295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 flipV="1">
            <a:off x="5554066" y="0"/>
            <a:ext cx="1588313" cy="5562295"/>
          </a:xfrm>
          <a:prstGeom prst="round2SameRect">
            <a:avLst>
              <a:gd name="adj" fmla="val 24583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5" name="Picture 34" descr="strip.png"/>
          <p:cNvPicPr>
            <a:picLocks noChangeAspect="1"/>
          </p:cNvPicPr>
          <p:nvPr/>
        </p:nvPicPr>
        <p:blipFill>
          <a:blip r:embed="rId5"/>
          <a:srcRect l="29" r="29"/>
          <a:stretch>
            <a:fillRect/>
          </a:stretch>
        </p:blipFill>
        <p:spPr>
          <a:xfrm>
            <a:off x="5554066" y="0"/>
            <a:ext cx="1588313" cy="5562295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5400000">
            <a:off x="0" y="3421685"/>
            <a:ext cx="2159813" cy="2159813"/>
          </a:xfrm>
          <a:prstGeom prst="round2SameRect">
            <a:avLst>
              <a:gd name="adj" fmla="val 12320"/>
            </a:avLst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35347" y="2184502"/>
            <a:ext cx="1252728" cy="1252728"/>
          </a:xfrm>
          <a:prstGeom prst="roundRect">
            <a:avLst>
              <a:gd name="adj" fmla="val 10803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863840" y="1097280"/>
            <a:ext cx="2743200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63840" y="141732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3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0</a:t>
            </a:r>
            <a:endParaRPr lang="en-US" sz="44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project tokens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342900" y="379476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Devnet today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" y="416052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cash value yet — by design.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01184" y="2395728"/>
            <a:ext cx="1124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Free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873752" y="2852928"/>
            <a:ext cx="11795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care &amp; supplies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63840" y="4251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76E6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How it earns, later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4590288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Previewable cosmetics, room frames and theme route packs — not emissions, not a casino wrapped as a pet.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63840" y="5577840"/>
            <a:ext cx="3657600" cy="685800"/>
          </a:xfrm>
          <a:prstGeom prst="roundRect">
            <a:avLst>
              <a:gd name="adj" fmla="val 10870"/>
            </a:avLst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 lIns="164592" rIns="164592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Kill criterion: if players only ask “wen token”, we fix the toy.</a:t>
            </a:r>
            <a:endParaRPr lang="en-US" sz="1200" dirty="0"/>
          </a:p>
        </p:txBody>
      </p:sp>
      <p:pic>
        <p:nvPicPr>
          <p:cNvPr id="33" name="Picture 32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9519" y="2419502"/>
            <a:ext cx="976579" cy="976579"/>
          </a:xfrm>
          <a:prstGeom prst="ellipse">
            <a:avLst/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43991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43991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Travel loop, album and the Devnet program.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070762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23137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6349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6349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shipped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3108" y="2419502"/>
            <a:ext cx="976579" cy="976579"/>
          </a:xfrm>
          <a:prstGeom prst="ellipse">
            <a:avLst/>
          </a:prstGeom>
          <a:solidFill>
            <a:srgbClr val="6C503A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97580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Real-wallet QA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7580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Real Phantom claim, receipt &amp; gift QA; public demo.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90518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942893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6105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96105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shipped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47611" y="2419502"/>
            <a:ext cx="976579" cy="976579"/>
          </a:xfrm>
          <a:prstGeom prst="ellipse">
            <a:avLst/>
          </a:prstGeom>
          <a:solidFill>
            <a:srgbClr val="D19566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52083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More stories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52083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More routes &amp; stories; a cosmetics test.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10274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562649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15861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Next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5861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up next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0" y="2419502"/>
            <a:ext cx="976579" cy="976579"/>
          </a:xfrm>
          <a:prstGeom prst="ellipse">
            <a:avLst/>
          </a:prstGeom>
          <a:solidFill>
            <a:srgbClr val="576E65"/>
          </a:solidFill>
          <a:ln/>
          <a:effectLst>
            <a:outerShdw sx="100000" sy="100000" kx="0" ky="0" algn="bl" rotWithShape="0" blurRad="635000" dist="254000" dir="27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805672" y="3494837"/>
            <a:ext cx="256763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Mainnet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05672" y="3794760"/>
            <a:ext cx="256763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Mainnet only after review.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29116" y="4584802"/>
            <a:ext cx="2187245" cy="1008583"/>
          </a:xfrm>
          <a:prstGeom prst="roundRect">
            <a:avLst>
              <a:gd name="adj" fmla="val 9882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181490" y="4832604"/>
            <a:ext cx="423367" cy="423367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34702" y="4832604"/>
            <a:ext cx="1089050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Later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34702" y="5032858"/>
            <a:ext cx="1089050" cy="3072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after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5353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63694" y="1104595"/>
            <a:ext cx="2197303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roadmap &amp; ask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3066898" y="1304849"/>
            <a:ext cx="5789981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Loop shipped, stories next</a:t>
            </a:r>
            <a:endParaRPr lang="en-US" sz="4400" dirty="0"/>
          </a:p>
        </p:txBody>
      </p:sp>
      <p:pic>
        <p:nvPicPr>
          <p:cNvPr id="45" name="Picture 44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1248" y="583387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6C503A"/>
                </a:solidFill>
                <a:latin typeface="Work Sans"/>
              </a:rPr>
              <a:t>Ask: your feedback on the emotion loop + the Solana surface.</a:t>
            </a:r>
          </a:p>
        </p:txBody>
      </p:sp>
      <p:pic>
        <p:nvPicPr>
          <p:cNvPr id="47" name="Picture 46" descr="puddle-mo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325880"/>
            <a:ext cx="731520" cy="703385"/>
          </a:xfrm>
          <a:prstGeom prst="rect">
            <a:avLst/>
          </a:prstGeom>
        </p:spPr>
      </p:pic>
      <p:pic>
        <p:nvPicPr>
          <p:cNvPr id="48" name="Picture 47" descr="moss-mo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325880"/>
            <a:ext cx="731520" cy="675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09798" cy="6858000"/>
          </a:xfrm>
          <a:prstGeom prst="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19680000">
            <a:off x="1434694" y="1766621"/>
            <a:ext cx="4315968" cy="3364992"/>
          </a:xfrm>
          <a:prstGeom prst="roundRect">
            <a:avLst>
              <a:gd name="adj" fmla="val 706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9680000">
            <a:off x="1507846" y="1757477"/>
            <a:ext cx="4261104" cy="3310128"/>
          </a:xfrm>
          <a:prstGeom prst="roundRect">
            <a:avLst>
              <a:gd name="adj" fmla="val 6630"/>
            </a:avLst>
          </a:prstGeom>
          <a:solidFill>
            <a:srgbClr val="11111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19680000">
            <a:off x="1578254" y="1827886"/>
            <a:ext cx="4120286" cy="3169310"/>
          </a:xfrm>
          <a:prstGeom prst="roundRect">
            <a:avLst>
              <a:gd name="adj" fmla="val 4616"/>
            </a:avLst>
          </a:prstGeom>
          <a:solidFill>
            <a:srgbClr val="CCCCCC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pic>
        <p:nvPicPr>
          <p:cNvPr id="37" name="Picture 36" descr="gift5-home-moss.png"/>
          <p:cNvPicPr>
            <a:picLocks noChangeAspect="1"/>
          </p:cNvPicPr>
          <p:nvPr/>
        </p:nvPicPr>
        <p:blipFill>
          <a:blip r:embed="rId4"/>
          <a:srcRect l="9373" r="9373"/>
          <a:stretch>
            <a:fillRect/>
          </a:stretch>
        </p:blipFill>
        <p:spPr>
          <a:xfrm rot="19680000">
            <a:off x="1578254" y="1827886"/>
            <a:ext cx="4120286" cy="316931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749808" y="324612"/>
            <a:ext cx="1463040" cy="261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PixelPets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 flipV="1">
            <a:off x="11639398" y="0"/>
            <a:ext cx="552298" cy="552298"/>
          </a:xfrm>
          <a:prstGeom prst="round1Rect">
            <a:avLst/>
          </a:prstGeom>
          <a:solidFill>
            <a:srgbClr val="6C503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2102998" y="5594299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576E65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 flipV="1">
            <a:off x="12102998" y="5951830"/>
            <a:ext cx="88697" cy="357530"/>
          </a:xfrm>
          <a:prstGeom prst="round1Rect">
            <a:avLst>
              <a:gd name="adj" fmla="val 50515"/>
            </a:avLst>
          </a:prstGeom>
          <a:solidFill>
            <a:srgbClr val="D1956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503566" y="1281989"/>
            <a:ext cx="2112264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19566"/>
                </a:solidFill>
                <a:latin typeface="Sacramento" pitchFamily="34" charset="0"/>
                <a:ea typeface="Sacramento" pitchFamily="34" charset="-122"/>
                <a:cs typeface="Sacramento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03566" y="1482242"/>
            <a:ext cx="3868826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C503A"/>
                </a:solidFill>
                <a:latin typeface="Barlow Condensed SemiBold" pitchFamily="34" charset="0"/>
                <a:ea typeface="Barlow Condensed SemiBold" pitchFamily="34" charset="-122"/>
                <a:cs typeface="Barlow Condensed SemiBold" pitchFamily="34" charset="-120"/>
              </a:rPr>
              <a:t>Try it live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503566" y="23317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Adopt a pet in your browser — no wallet needed. Connect Phantom on Devnet when you want to claim.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83880" y="34290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5"/>
              </a:rPr>
              <a:t>175.178.27.231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83880" y="397764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6"/>
              </a:rPr>
              <a:t>github.com/weswes233/PixelPets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5262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 b="1">
                <a:solidFill>
                  <a:srgbClr val="6C503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  <a:hlinkClick r:id="rId8"/>
              </a:rPr>
              <a:t>X  @wess1yan</a:t>
            </a:r>
            <a:endParaRPr lang="en-US" sz="1100" dirty="0"/>
          </a:p>
        </p:txBody>
      </p:sp>
      <p:pic>
        <p:nvPicPr>
          <p:cNvPr id="36" name="Picture 35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3464"/>
            <a:ext cx="274320" cy="211015"/>
          </a:xfrm>
          <a:prstGeom prst="rect">
            <a:avLst/>
          </a:prstGeom>
        </p:spPr>
      </p:pic>
      <p:pic>
        <p:nvPicPr>
          <p:cNvPr id="38" name="Picture 37" descr="moss-s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74136"/>
            <a:ext cx="411480" cy="316523"/>
          </a:xfrm>
          <a:prstGeom prst="rect">
            <a:avLst/>
          </a:prstGeom>
        </p:spPr>
      </p:pic>
      <p:pic>
        <p:nvPicPr>
          <p:cNvPr id="39" name="Picture 38" descr="puddle-se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922776"/>
            <a:ext cx="411480" cy="284871"/>
          </a:xfrm>
          <a:prstGeom prst="rect">
            <a:avLst/>
          </a:prstGeom>
        </p:spPr>
      </p:pic>
      <p:pic>
        <p:nvPicPr>
          <p:cNvPr id="40" name="Picture 39" descr="wisp-se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9520" y="4471416"/>
            <a:ext cx="411480" cy="3740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03566" y="52120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76E65"/>
                </a:solidFill>
                <a:latin typeface="Work Sans"/>
              </a:rPr>
              <a:t>Questions? Happy to walk you through a claim live.</a:t>
            </a:r>
          </a:p>
        </p:txBody>
      </p:sp>
      <p:pic>
        <p:nvPicPr>
          <p:cNvPr id="42" name="Picture 41" descr="moss-su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7880" y="4892040"/>
            <a:ext cx="1234440" cy="1186962"/>
          </a:xfrm>
          <a:prstGeom prst="rect">
            <a:avLst/>
          </a:prstGeom>
        </p:spPr>
      </p:pic>
      <p:sp>
        <p:nvSpPr>
          <p:cNvPr id="43" name="Rounded Rectangular Callout 42"/>
          <p:cNvSpPr/>
          <p:nvPr/>
        </p:nvSpPr>
        <p:spPr>
          <a:xfrm>
            <a:off x="5806440" y="3931920"/>
            <a:ext cx="1554480" cy="566928"/>
          </a:xfrm>
          <a:prstGeom prst="wedgeRoundRectCallout">
            <a:avLst>
              <a:gd name="adj1" fmla="val -10000"/>
              <a:gd name="adj2" fmla="val 95000"/>
              <a:gd name="adj3" fmla="val 16667"/>
            </a:avLst>
          </a:prstGeom>
          <a:solidFill>
            <a:srgbClr val="D19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Work Sans"/>
              </a:rPr>
              <a:t>bye for now!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Cupfe Coffee</dc:title>
  <dc:subject>PptxGenJS Presentation</dc:subject>
  <dc:creator>PptxGenJS</dc:creator>
  <cp:lastModifiedBy>PptxGenJS</cp:lastModifiedBy>
  <cp:revision>1</cp:revision>
  <dcterms:created xsi:type="dcterms:W3CDTF">2026-10-11T03:54:52Z</dcterms:created>
  <dcterms:modified xsi:type="dcterms:W3CDTF">2026-10-11T03:54:52Z</dcterms:modified>
</cp:coreProperties>
</file>